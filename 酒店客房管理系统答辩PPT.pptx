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5b3b4fddcb479c" /><Relationship Type="http://schemas.openxmlformats.org/officeDocument/2006/relationships/extended-properties" Target="/docProps/app.xml" Id="Rb0d838bfcb884a93" /><Relationship Type="http://schemas.openxmlformats.org/officeDocument/2006/relationships/officeDocument" Target="/ppt/presentation.xml" Id="Rad5a023d02f346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c398474cbc43a1"/>
  </p:sldMasterIdLst>
  <p:notesMasterIdLst>
    <p:notesMasterId xmlns:r="http://schemas.openxmlformats.org/officeDocument/2006/relationships" r:id="Rfc9f15ea7400463e"/>
  </p:notesMasterIdLst>
  <p:sldIdLst>
    <p:sldId xmlns:r="http://schemas.openxmlformats.org/officeDocument/2006/relationships" id="256" r:id="R3deb7e98c6a941e8"/>
    <p:sldId xmlns:r="http://schemas.openxmlformats.org/officeDocument/2006/relationships" id="257" r:id="R71710454262844db"/>
    <p:sldId xmlns:r="http://schemas.openxmlformats.org/officeDocument/2006/relationships" id="258" r:id="Rd4bbc07459704916"/>
    <p:sldId xmlns:r="http://schemas.openxmlformats.org/officeDocument/2006/relationships" id="259" r:id="R1ffc808b92da4ccf"/>
    <p:sldId xmlns:r="http://schemas.openxmlformats.org/officeDocument/2006/relationships" id="260" r:id="R5ce7847ab4f2458a"/>
    <p:sldId xmlns:r="http://schemas.openxmlformats.org/officeDocument/2006/relationships" id="261" r:id="Rf762ddcd0e1844b5"/>
    <p:sldId xmlns:r="http://schemas.openxmlformats.org/officeDocument/2006/relationships" id="262" r:id="Rd0235aaa3ed64ff0"/>
    <p:sldId xmlns:r="http://schemas.openxmlformats.org/officeDocument/2006/relationships" id="263" r:id="R192d8d16cc154f1a"/>
    <p:sldId xmlns:r="http://schemas.openxmlformats.org/officeDocument/2006/relationships" id="264" r:id="R7bbfcedd393241cd"/>
    <p:sldId xmlns:r="http://schemas.openxmlformats.org/officeDocument/2006/relationships" id="265" r:id="R3fa2b631f8584964"/>
    <p:sldId xmlns:r="http://schemas.openxmlformats.org/officeDocument/2006/relationships" id="266" r:id="R15c7b2968b91422e"/>
    <p:sldId xmlns:r="http://schemas.openxmlformats.org/officeDocument/2006/relationships" id="267" r:id="R716850e7155447c6"/>
    <p:sldId xmlns:r="http://schemas.openxmlformats.org/officeDocument/2006/relationships" id="268" r:id="R9688378364744c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398474cbc43a1" /><Relationship Type="http://schemas.openxmlformats.org/officeDocument/2006/relationships/theme" Target="/ppt/theme/theme1.xml" Id="R77f3e07e0c454a28" /><Relationship Type="http://schemas.openxmlformats.org/officeDocument/2006/relationships/notesMaster" Target="/ppt/notesMasters/notesMaster1.xml" Id="Rfc9f15ea7400463e" /><Relationship Type="http://schemas.openxmlformats.org/officeDocument/2006/relationships/presProps" Target="/ppt/presProps.xml" Id="R41e7b9b5895f4d69" /><Relationship Type="http://schemas.openxmlformats.org/officeDocument/2006/relationships/viewProps" Target="/ppt/viewProps.xml" Id="Re15294bd939a4ecf" /><Relationship Type="http://schemas.openxmlformats.org/officeDocument/2006/relationships/tableStyles" Target="/ppt/tableStyles.xml" Id="R2313c030ed1e40e6" /><Relationship Type="http://schemas.openxmlformats.org/officeDocument/2006/relationships/slide" Target="/ppt/slides/slide1.xml" Id="R3deb7e98c6a941e8" /><Relationship Type="http://schemas.openxmlformats.org/officeDocument/2006/relationships/slide" Target="/ppt/slides/slide2.xml" Id="R71710454262844db" /><Relationship Type="http://schemas.openxmlformats.org/officeDocument/2006/relationships/slide" Target="/ppt/slides/slide3.xml" Id="Rd4bbc07459704916" /><Relationship Type="http://schemas.openxmlformats.org/officeDocument/2006/relationships/slide" Target="/ppt/slides/slide4.xml" Id="R1ffc808b92da4ccf" /><Relationship Type="http://schemas.openxmlformats.org/officeDocument/2006/relationships/slide" Target="/ppt/slides/slide5.xml" Id="R5ce7847ab4f2458a" /><Relationship Type="http://schemas.openxmlformats.org/officeDocument/2006/relationships/slide" Target="/ppt/slides/slide6.xml" Id="Rf762ddcd0e1844b5" /><Relationship Type="http://schemas.openxmlformats.org/officeDocument/2006/relationships/slide" Target="/ppt/slides/slide7.xml" Id="Rd0235aaa3ed64ff0" /><Relationship Type="http://schemas.openxmlformats.org/officeDocument/2006/relationships/slide" Target="/ppt/slides/slide8.xml" Id="R192d8d16cc154f1a" /><Relationship Type="http://schemas.openxmlformats.org/officeDocument/2006/relationships/slide" Target="/ppt/slides/slide9.xml" Id="R7bbfcedd393241cd" /><Relationship Type="http://schemas.openxmlformats.org/officeDocument/2006/relationships/slide" Target="/ppt/slides/slide10.xml" Id="R3fa2b631f8584964" /><Relationship Type="http://schemas.openxmlformats.org/officeDocument/2006/relationships/slide" Target="/ppt/slides/slide11.xml" Id="R15c7b2968b91422e" /><Relationship Type="http://schemas.openxmlformats.org/officeDocument/2006/relationships/slide" Target="/ppt/slides/slide12.xml" Id="R716850e7155447c6" /><Relationship Type="http://schemas.openxmlformats.org/officeDocument/2006/relationships/slide" Target="/ppt/slides/slide13.xml" Id="R9688378364744c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445c88acdac46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c7a8df7d5745a6" /><Relationship Type="http://schemas.openxmlformats.org/officeDocument/2006/relationships/notesMaster" Target="/ppt/notesMasters/notesMaster1.xml" Id="R624aea8b3fcc4f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5ba6801a194416" /><Relationship Type="http://schemas.openxmlformats.org/officeDocument/2006/relationships/notesMaster" Target="/ppt/notesMasters/notesMaster1.xml" Id="Rda92db4be59245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3272ccc1014228" /><Relationship Type="http://schemas.openxmlformats.org/officeDocument/2006/relationships/notesMaster" Target="/ppt/notesMasters/notesMaster1.xml" Id="R79176b8a982747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83fe3129aa4708" /><Relationship Type="http://schemas.openxmlformats.org/officeDocument/2006/relationships/notesMaster" Target="/ppt/notesMasters/notesMaster1.xml" Id="R6e6ec961754d4b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2dfbead87c47d7" /><Relationship Type="http://schemas.openxmlformats.org/officeDocument/2006/relationships/notesMaster" Target="/ppt/notesMasters/notesMaster1.xml" Id="R7013ce9fce0842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fc11dc5eba44f1" /><Relationship Type="http://schemas.openxmlformats.org/officeDocument/2006/relationships/notesMaster" Target="/ppt/notesMasters/notesMaster1.xml" Id="R3f51d5b68a2745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f3aca602964627" /><Relationship Type="http://schemas.openxmlformats.org/officeDocument/2006/relationships/notesMaster" Target="/ppt/notesMasters/notesMaster1.xml" Id="R760e8e32874d42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93eab100ea4185" /><Relationship Type="http://schemas.openxmlformats.org/officeDocument/2006/relationships/notesMaster" Target="/ppt/notesMasters/notesMaster1.xml" Id="R8e75af66307447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a8ef3836b344fa" /><Relationship Type="http://schemas.openxmlformats.org/officeDocument/2006/relationships/notesMaster" Target="/ppt/notesMasters/notesMaster1.xml" Id="R5020cc3cd19c47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2eb9de46874ba3" /><Relationship Type="http://schemas.openxmlformats.org/officeDocument/2006/relationships/notesMaster" Target="/ppt/notesMasters/notesMaster1.xml" Id="R9fcd02d32b2e46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5f0eb55c6d4358" /><Relationship Type="http://schemas.openxmlformats.org/officeDocument/2006/relationships/notesMaster" Target="/ppt/notesMasters/notesMaster1.xml" Id="R2d7da1cfdfeb45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e48461ada04b81" /><Relationship Type="http://schemas.openxmlformats.org/officeDocument/2006/relationships/notesMaster" Target="/ppt/notesMasters/notesMaster1.xml" Id="Rd16e42bc75c143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19032c41114fe2" /><Relationship Type="http://schemas.openxmlformats.org/officeDocument/2006/relationships/notesMaster" Target="/ppt/notesMasters/notesMaster1.xml" Id="R9b6bb967dffa47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99d9c784aa4bf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5872e9572a843a5" /><Relationship Type="http://schemas.openxmlformats.org/officeDocument/2006/relationships/slideLayout" Target="/ppt/slideLayouts/slideLayout2.xml" Id="R37cbac34d3d146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cbac34d3d146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d0c7a105504372" /><Relationship Type="http://schemas.openxmlformats.org/officeDocument/2006/relationships/notesSlide" Target="/ppt/notesSlides/notesSlide1.xml" Id="R208127998a8c4d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98afee72d24efe" /><Relationship Type="http://schemas.openxmlformats.org/officeDocument/2006/relationships/notesSlide" Target="/ppt/notesSlides/notesSlide2.xml" Id="R26c341f6b58d41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6c391a0dff4ec9" /><Relationship Type="http://schemas.openxmlformats.org/officeDocument/2006/relationships/notesSlide" Target="/ppt/notesSlides/notesSlide3.xml" Id="R163b8a0a60fd42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7073ee3ee04ac6" /><Relationship Type="http://schemas.openxmlformats.org/officeDocument/2006/relationships/notesSlide" Target="/ppt/notesSlides/notesSlide4.xml" Id="R2d807ad9401940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a4498b1103420d" /><Relationship Type="http://schemas.openxmlformats.org/officeDocument/2006/relationships/notesSlide" Target="/ppt/notesSlides/notesSlide5.xml" Id="Rb6eada805ac443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407099334c42d0" /><Relationship Type="http://schemas.openxmlformats.org/officeDocument/2006/relationships/notesSlide" Target="/ppt/notesSlides/notesSlide6.xml" Id="R0a87a2f91add44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bf9411536d4331" /><Relationship Type="http://schemas.openxmlformats.org/officeDocument/2006/relationships/notesSlide" Target="/ppt/notesSlides/notesSlide7.xml" Id="Re5b0a632bf784f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d5e66ef53a4198" /><Relationship Type="http://schemas.openxmlformats.org/officeDocument/2006/relationships/notesSlide" Target="/ppt/notesSlides/notesSlide8.xml" Id="Ree8d567593bd4c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23e59c6d2a439d" /><Relationship Type="http://schemas.openxmlformats.org/officeDocument/2006/relationships/notesSlide" Target="/ppt/notesSlides/notesSlide9.xml" Id="Rd779c839909f47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30336bb6e048e6" /><Relationship Type="http://schemas.openxmlformats.org/officeDocument/2006/relationships/notesSlide" Target="/ppt/notesSlides/notesSlide10.xml" Id="R7edd8bc1275e42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0c8c42a1e0428c" /><Relationship Type="http://schemas.openxmlformats.org/officeDocument/2006/relationships/notesSlide" Target="/ppt/notesSlides/notesSlide11.xml" Id="R4dd6f7e5c32640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f6382f44134f69" /><Relationship Type="http://schemas.openxmlformats.org/officeDocument/2006/relationships/notesSlide" Target="/ppt/notesSlides/notesSlide12.xml" Id="Rd58bbe63cb5a4b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6a8e9cb4184fea" /><Relationship Type="http://schemas.openxmlformats.org/officeDocument/2006/relationships/notesSlide" Target="/ppt/notesSlides/notesSlide13.xml" Id="Rda47c425f7cb48b4" /></Relationships>
</file>

<file path=ppt/slides/slide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267198D9-A420-4146-B085-291A25AF491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181A20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BDFCAF03-E271-4A17-8D1D-D263ABC38F74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2B171B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2771932E-C7FE-4B52-A52A-FC1ECAE019AD}"/>
              </a:ext>
            </a:extLst>
          </ns0:cNvPr>
          <ns0:cNvSpPr>
            <a:spLocks noGrp="1"/>
          </ns0:cNvSpPr>
          <ns0:nvPr/>
        </ns0:nvSpPr>
        <ns0:spPr>
          <a:xfrm>
            <a:off x="7239000" y="266700"/>
            <a:ext cx="4476750" cy="4476750"/>
          </a:xfrm>
          <a:prstGeom prst="ellipse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05C00DEE-687F-4238-A695-CDDA008F456B}"/>
              </a:ext>
            </a:extLst>
          </ns0:cNvPr>
          <ns0:cNvSpPr>
            <a:spLocks noGrp="1"/>
          </ns0:cNvSpPr>
          <ns0:nvPr/>
        </ns0:nvSpPr>
        <ns0:spPr>
          <a:xfrm>
            <a:off x="7905750" y="876300"/>
            <a:ext cx="3238500" cy="3238500"/>
          </a:xfrm>
          <a:prstGeom prst="ellipse">
            <a:avLst/>
          </a:prstGeom>
          <a:solidFill>
            <a:srgbClr val="2B171B"/>
          </a:solidFill>
          <a:ln w="28575">
            <a:solidFill>
              <a:srgbClr val="C79344"/>
            </a:solidFill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DB61BFAE-1294-49BE-B6B4-B3703687E939}"/>
              </a:ext>
            </a:extLst>
          </ns0:cNvPr>
          <ns0:cNvSpPr>
            <a:spLocks noGrp="1"/>
          </ns0:cNvSpPr>
          <ns0:nvPr/>
        </ns0:nvSpPr>
        <ns0:spPr>
          <a:xfrm>
            <a:off x="666750" y="781050"/>
            <a:ext cx="876300" cy="66675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6F554CA0-086A-4F78-A4D4-EBE731AEC566}"/>
              </a:ext>
            </a:extLst>
          </ns0:cNvPr>
          <ns0:cNvSpPr>
            <a:spLocks noGrp="1"/>
          </ns0:cNvSpPr>
          <ns0:nvPr/>
        </ns0:nvSpPr>
        <ns0:spPr>
          <a:xfrm>
            <a:off x="666750" y="1085850"/>
            <a:ext cx="3333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425" b="1">
                <a:solidFill>
                  <a:srgbClr val="C79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9344"/>
                </a:solidFill>
                <a:latin typeface="Microsoft YaHei"/>
                <a:ea typeface="Microsoft YaHei"/>
                <a:cs typeface="Microsoft YaHei"/>
              </a:rPr>
              <a:t>数据库课程设计答辩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2C67F474-2AF0-4B7A-B4CC-6A0880AE9FD4}"/>
              </a:ext>
            </a:extLst>
          </ns0:cNvPr>
          <ns0:cNvSpPr>
            <a:spLocks noGrp="1"/>
          </ns0:cNvSpPr>
          <ns0:nvPr/>
        </ns0:nvSpPr>
        <ns0:spPr>
          <a:xfrm>
            <a:off x="666750" y="1666875"/>
            <a:ext cx="7239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酒店客房管理系统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B28A04C9-83F3-4454-853D-C6CFCE4BC9EB}"/>
              </a:ext>
            </a:extLst>
          </ns0:cNvPr>
          <ns0:cNvSpPr>
            <a:spLocks noGrp="1"/>
          </ns0:cNvSpPr>
          <ns0:nvPr/>
        </ns0:nvSpPr>
        <ns0:spPr>
          <a:xfrm>
            <a:off x="714375" y="25717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75" b="0">
                <a:solidFill>
                  <a:srgbClr val="F0DF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0DFCD"/>
                </a:solidFill>
                <a:latin typeface="Microsoft YaHei"/>
                <a:ea typeface="Microsoft YaHei"/>
                <a:cs typeface="Microsoft YaHei"/>
              </a:rPr>
              <a:t>重点讲解：数据库设计、后端代码、核心业务流程与创新点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B48BB8FF-4F8E-450B-A114-01FCE402C36E}"/>
              </a:ext>
            </a:extLst>
          </ns0:cNvPr>
          <ns0:cNvSpPr>
            <a:spLocks noGrp="1"/>
          </ns0:cNvSpPr>
          <ns0:nvPr/>
        </ns0:nvSpPr>
        <ns0:spPr>
          <a:xfrm>
            <a:off x="762000" y="4619625"/>
            <a:ext cx="2000250" cy="781050"/>
          </a:xfrm>
          <a:prstGeom prst="rect">
            <a:avLst/>
          </a:prstGeom>
          <a:solidFill>
            <a:srgbClr val="3A2426"/>
          </a:solidFill>
          <a:ln w="9525">
            <a:solidFill>
              <a:srgbClr val="6B3A3D"/>
            </a:solidFill>
            <a:prstDash val="solid"/>
          </a:ln>
        </ns0:spPr>
      </ns0:sp>
      <ns0:sp>
        <ns0:nvSpPr>
          <ns0:cNvPr id="10" name="">
            <a:extLst>
              <a:ext uri="{FF2B5EF4-FFF2-40B4-BE49-F238E27FC236}">
                <ns2:creationId id="{33058A31-5F2E-4B22-987A-5D6DA0B17154}"/>
              </a:ext>
            </a:extLst>
          </ns0:cNvPr>
          <ns0:cNvSpPr>
            <a:spLocks noGrp="1"/>
          </ns0:cNvSpPr>
          <ns0:nvPr/>
        </ns0:nvSpPr>
        <ns0:spPr>
          <a:xfrm>
            <a:off x="914400" y="4772025"/>
            <a:ext cx="323850" cy="323850"/>
          </a:xfrm>
          <a:prstGeom prst="ellipse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1" name="">
            <a:extLst>
              <a:ext uri="{FF2B5EF4-FFF2-40B4-BE49-F238E27FC236}">
                <ns2:creationId id="{52B230F9-B178-4F0B-AA81-D04FA776BF9F}"/>
              </a:ext>
            </a:extLst>
          </ns0:cNvPr>
          <ns0:cNvSpPr>
            <a:spLocks noGrp="1"/>
          </ns0:cNvSpPr>
          <ns0:nvPr/>
        </ns0:nvSpPr>
        <ns0:spPr>
          <a:xfrm>
            <a:off x="914400" y="4829175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0443992B-E53C-49E8-B7B6-E6240136D6C1}"/>
              </a:ext>
            </a:extLst>
          </ns0:cNvPr>
          <ns0:cNvSpPr>
            <a:spLocks noGrp="1"/>
          </ns0:cNvSpPr>
          <ns0:nvPr/>
        </ns0:nvSpPr>
        <ns0:spPr>
          <a:xfrm>
            <a:off x="1314450" y="4772025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MySQL 8.0 严谨建模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27814E6D-8B2C-4E6A-AAE4-3909ECC04BF7}"/>
              </a:ext>
            </a:extLst>
          </ns0:cNvPr>
          <ns0:cNvSpPr>
            <a:spLocks noGrp="1"/>
          </ns0:cNvSpPr>
          <ns0:nvPr/>
        </ns0:nvSpPr>
        <ns0:spPr>
          <a:xfrm>
            <a:off x="3095625" y="4619625"/>
            <a:ext cx="2000250" cy="781050"/>
          </a:xfrm>
          <a:prstGeom prst="rect">
            <a:avLst/>
          </a:prstGeom>
          <a:solidFill>
            <a:srgbClr val="3A2426"/>
          </a:solidFill>
          <a:ln w="9525">
            <a:solidFill>
              <a:srgbClr val="6B3A3D"/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499F1590-05F7-4C39-AD51-44F864C9E546}"/>
              </a:ext>
            </a:extLst>
          </ns0:cNvPr>
          <ns0:cNvSpPr>
            <a:spLocks noGrp="1"/>
          </ns0:cNvSpPr>
          <ns0:nvPr/>
        </ns0:nvSpPr>
        <ns0:spPr>
          <a:xfrm>
            <a:off x="3248025" y="4772025"/>
            <a:ext cx="323850" cy="323850"/>
          </a:xfrm>
          <a:prstGeom prst="ellipse">
            <a:avLst/>
          </a:prstGeom>
          <a:solidFill>
            <a:srgbClr val="A9334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03FF7DEB-D00A-4208-8742-EE22B2673D12}"/>
              </a:ext>
            </a:extLst>
          </ns0:cNvPr>
          <ns0:cNvSpPr>
            <a:spLocks noGrp="1"/>
          </ns0:cNvSpPr>
          <ns0:nvPr/>
        </ns0:nvSpPr>
        <ns0:spPr>
          <a:xfrm>
            <a:off x="3248025" y="4829175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C91DCF67-01CD-43FF-BD63-C276D3C11BCB}"/>
              </a:ext>
            </a:extLst>
          </ns0:cNvPr>
          <ns0:cNvSpPr>
            <a:spLocks noGrp="1"/>
          </ns0:cNvSpPr>
          <ns0:nvPr/>
        </ns0:nvSpPr>
        <ns0:spPr>
          <a:xfrm>
            <a:off x="3648075" y="4772025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Python 后端 API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A1C6B71D-65FA-44BD-A56E-F1029EA905A4}"/>
              </a:ext>
            </a:extLst>
          </ns0:cNvPr>
          <ns0:cNvSpPr>
            <a:spLocks noGrp="1"/>
          </ns0:cNvSpPr>
          <ns0:nvPr/>
        </ns0:nvSpPr>
        <ns0:spPr>
          <a:xfrm>
            <a:off x="5429250" y="4619625"/>
            <a:ext cx="2000250" cy="781050"/>
          </a:xfrm>
          <a:prstGeom prst="rect">
            <a:avLst/>
          </a:prstGeom>
          <a:solidFill>
            <a:srgbClr val="3A2426"/>
          </a:solidFill>
          <a:ln w="9525">
            <a:solidFill>
              <a:srgbClr val="6B3A3D"/>
            </a:solidFill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A033D1DA-D005-437D-814D-7726DA8D4297}"/>
              </a:ext>
            </a:extLst>
          </ns0:cNvPr>
          <ns0:cNvSpPr>
            <a:spLocks noGrp="1"/>
          </ns0:cNvSpPr>
          <ns0:nvPr/>
        </ns0:nvSpPr>
        <ns0:spPr>
          <a:xfrm>
            <a:off x="5581650" y="4772025"/>
            <a:ext cx="323850" cy="323850"/>
          </a:xfrm>
          <a:prstGeom prst="ellipse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FCE04013-AC7D-4339-BD48-FEFFE6570996}"/>
              </a:ext>
            </a:extLst>
          </ns0:cNvPr>
          <ns0:cNvSpPr>
            <a:spLocks noGrp="1"/>
          </ns0:cNvSpPr>
          <ns0:nvPr/>
        </ns0:nvSpPr>
        <ns0:spPr>
          <a:xfrm>
            <a:off x="5581650" y="4829175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F147EFF1-E96F-4423-A793-52BD8B42999A}"/>
              </a:ext>
            </a:extLst>
          </ns0:cNvPr>
          <ns0:cNvSpPr>
            <a:spLocks noGrp="1"/>
          </ns0:cNvSpPr>
          <ns0:nvPr/>
        </ns0:nvSpPr>
        <ns0:spPr>
          <a:xfrm>
            <a:off x="5981700" y="4772025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预约/入住/结算闭环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11ABC5EB-882E-4020-922B-F6DFACBCFE45}"/>
              </a:ext>
            </a:extLst>
          </ns0:cNvPr>
          <ns0:cNvSpPr>
            <a:spLocks noGrp="1"/>
          </ns0:cNvSpPr>
          <ns0:nvPr/>
        </ns0:nvSpPr>
        <ns0:spPr>
          <a:xfrm>
            <a:off x="7762875" y="4619625"/>
            <a:ext cx="2000250" cy="781050"/>
          </a:xfrm>
          <a:prstGeom prst="rect">
            <a:avLst/>
          </a:prstGeom>
          <a:solidFill>
            <a:srgbClr val="3A2426"/>
          </a:solidFill>
          <a:ln w="9525">
            <a:solidFill>
              <a:srgbClr val="6B3A3D"/>
            </a:solidFill>
            <a:prstDash val="solid"/>
          </a:ln>
        </ns0:spPr>
      </ns0:sp>
      <ns0:sp>
        <ns0:nvSpPr>
          <ns0:cNvPr id="22" name="">
            <a:extLst>
              <a:ext uri="{FF2B5EF4-FFF2-40B4-BE49-F238E27FC236}">
                <ns2:creationId id="{189D4760-3E2B-45F0-B8CA-05AC1677AA89}"/>
              </a:ext>
            </a:extLst>
          </ns0:cNvPr>
          <ns0:cNvSpPr>
            <a:spLocks noGrp="1"/>
          </ns0:cNvSpPr>
          <ns0:nvPr/>
        </ns0:nvSpPr>
        <ns0:spPr>
          <a:xfrm>
            <a:off x="7915275" y="4772025"/>
            <a:ext cx="323850" cy="323850"/>
          </a:xfrm>
          <a:prstGeom prst="ellipse">
            <a:avLst/>
          </a:prstGeom>
          <a:solidFill>
            <a:srgbClr val="A9334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9EAF1DDF-3BBB-4D17-A97A-EEC8A05E7311}"/>
              </a:ext>
            </a:extLst>
          </ns0:cNvPr>
          <ns0:cNvSpPr>
            <a:spLocks noGrp="1"/>
          </ns0:cNvSpPr>
          <ns0:nvPr/>
        </ns0:nvSpPr>
        <ns0:spPr>
          <a:xfrm>
            <a:off x="7915275" y="4829175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5CC40DBA-C446-41F1-B12E-2EE67023588F}"/>
              </a:ext>
            </a:extLst>
          </ns0:cNvPr>
          <ns0:cNvSpPr>
            <a:spLocks noGrp="1"/>
          </ns0:cNvSpPr>
          <ns0:nvPr/>
        </ns0:nvSpPr>
        <ns0:spPr>
          <a:xfrm>
            <a:off x="8315325" y="4772025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身份证与业务冲突校验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FD0E473A-4581-47B9-9015-6547E1D5DD47}"/>
              </a:ext>
            </a:extLst>
          </ns0:cNvPr>
          <ns0:cNvSpPr>
            <a:spLocks noGrp="1"/>
          </ns0:cNvSpPr>
          <ns0:nvPr/>
        </ns0:nvSpPr>
        <ns0:spPr>
          <a:xfrm>
            <a:off x="666750" y="6143625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D6B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6B88A"/>
                </a:solidFill>
                <a:latin typeface="Microsoft YaHei"/>
                <a:ea typeface="Microsoft YaHei"/>
                <a:cs typeface="Microsoft YaHei"/>
              </a:rPr>
              <a:t>10分钟汇报版</a:t>
            </a:r>
          </a:p>
        </ns0:txBody>
      </ns0:sp>
    </ns0:spTree>
    <ns0:extLst>
      <ns0:ext uri="{BB962C8B-B14F-4D97-AF65-F5344CB8AC3E}">
        <ns3:creationId val="666598461"/>
      </ns0:ext>
    </ns0:extLst>
  </ns0:cSld>
</ns0:sld>
</file>

<file path=ppt/slides/slide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2226CAAA-C074-4473-8828-DC43CF3CC22C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4BF8F7A5-44D5-4DBD-A116-036CFC2DDDDC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A7AFB91A-D208-4C3F-A60A-03935366002C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71450" cy="68580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285DD344-F12F-4D4D-9883-0DD860C65923}"/>
              </a:ext>
            </a:extLst>
          </ns0:cNvPr>
          <ns0:cNvSpPr>
            <a:spLocks noGrp="1"/>
          </ns0:cNvSpPr>
          <ns0:nvPr/>
        </ns0:nvSpPr>
        <ns0:spPr>
          <a:xfrm>
            <a:off x="171450" y="0"/>
            <a:ext cx="47625" cy="68580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7D5D1E2E-5F15-4B5B-A111-7F54161D095A}"/>
              </a:ext>
            </a:extLst>
          </ns0:cNvPr>
          <ns0:cNvSpPr>
            <a:spLocks noGrp="1"/>
          </ns0:cNvSpPr>
          <ns0:nvPr/>
        </ns0:nvSpPr>
        <ns0:spPr>
          <a:xfrm>
            <a:off x="9810750" y="0"/>
            <a:ext cx="2381250" cy="2381250"/>
          </a:xfrm>
          <a:prstGeom prst="ellipse">
            <a:avLst/>
          </a:prstGeom>
          <a:solidFill>
            <a:srgbClr val="F0D8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1241F2C9-A15E-4CF7-A6A1-7CAACE56BEEC}"/>
              </a:ext>
            </a:extLst>
          </ns0:cNvPr>
          <ns0:cNvSpPr>
            <a:spLocks noGrp="1"/>
          </ns0:cNvSpPr>
          <ns0:nvPr/>
        </ns0:nvSpPr>
        <ns0:spPr>
          <a:xfrm>
            <a:off x="10191750" y="381000"/>
            <a:ext cx="1638300" cy="1638300"/>
          </a:xfrm>
          <a:prstGeom prst="ellipse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7" name="">
            <a:extLst>
              <a:ext uri="{FF2B5EF4-FFF2-40B4-BE49-F238E27FC236}">
                <ns2:creationId id="{9D4B14E3-87DC-406E-855F-5F668B82295C}"/>
              </a:ext>
            </a:extLst>
          </ns0:cNvPr>
          <ns0:cNvSpPr>
            <a:spLocks noGrp="1"/>
          </ns0:cNvSpPr>
          <ns0:nvPr/>
        </ns0:nvSpPr>
        <ns0:spPr>
          <a:xfrm>
            <a:off x="6096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答辩主线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E328D295-D791-482A-936E-2D27CCB7C767}"/>
              </a:ext>
            </a:extLst>
          </ns0:cNvPr>
          <ns0:cNvSpPr>
            <a:spLocks noGrp="1"/>
          </ns0:cNvSpPr>
          <ns0:nvPr/>
        </ns0:nvSpPr>
        <ns0:spPr>
          <a:xfrm>
            <a:off x="609600" y="66675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先讲清业务闭环，再证明数据库和后端能兜住真实操作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424CA669-18E7-4C3E-8E1F-DAE4D6D31A30}"/>
              </a:ext>
            </a:extLst>
          </ns0:cNvPr>
          <ns0:cNvSpPr>
            <a:spLocks noGrp="1"/>
          </ns0:cNvSpPr>
          <ns0:nvPr/>
        </ns0:nvSpPr>
        <ns0:spPr>
          <a:xfrm>
            <a:off x="609600" y="13906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10分钟内容：前端只做入口说明，重点展示数据库设计、后端 API 与关键校验。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C2578B49-F57E-4347-8480-50186BFE9A23}"/>
              </a:ext>
            </a:extLst>
          </ns0:cNvPr>
          <ns0:cNvSpPr>
            <a:spLocks noGrp="1"/>
          </ns0:cNvSpPr>
          <ns0:nvPr/>
        </ns0:nvSpPr>
        <ns0:spPr>
          <a:xfrm>
            <a:off x="609600" y="64960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rPr>
              <a:t>酒店客房管理系统 · 数据库与后端答辩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B91FB5F9-1E58-4761-9A16-DE8B50E64428}"/>
              </a:ext>
            </a:extLst>
          </ns0:cNvPr>
          <ns0:cNvSpPr>
            <a:spLocks noGrp="1"/>
          </ns0:cNvSpPr>
          <ns0:nvPr/>
        </ns0:nvSpPr>
        <ns0:spPr>
          <a:xfrm>
            <a:off x="11125200" y="64579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F80F7F8E-174A-42A2-BA22-3493AB6E60C8}"/>
              </a:ext>
            </a:extLst>
          </ns0:cNvPr>
          <ns0:cNvSpPr>
            <a:spLocks noGrp="1"/>
          </ns0:cNvSpPr>
          <ns0:nvPr/>
        </ns0:nvSpPr>
        <ns0:spPr>
          <a:xfrm>
            <a:off x="666750" y="1809750"/>
            <a:ext cx="2524125" cy="30480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5E0EF510-E958-4370-AADA-C6FA708A68D6}"/>
              </a:ext>
            </a:extLst>
          </ns0:cNvPr>
          <ns0:cNvSpPr>
            <a:spLocks noGrp="1"/>
          </ns0:cNvSpPr>
          <ns0:nvPr/>
        </ns0:nvSpPr>
        <ns0:spPr>
          <a:xfrm>
            <a:off x="666750" y="1809750"/>
            <a:ext cx="57150" cy="30480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51818235-0636-48AB-A864-932D0A698DA9}"/>
              </a:ext>
            </a:extLst>
          </ns0:cNvPr>
          <ns0:cNvSpPr>
            <a:spLocks noGrp="1"/>
          </ns0:cNvSpPr>
          <ns0:nvPr/>
        </ns0:nvSpPr>
        <ns0:spPr>
          <a:xfrm>
            <a:off x="876300" y="1981200"/>
            <a:ext cx="2124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项目定位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39B0E43A-E402-4563-87A9-861DE5007A41}"/>
              </a:ext>
            </a:extLst>
          </ns0:cNvPr>
          <ns0:cNvSpPr>
            <a:spLocks noGrp="1"/>
          </ns0:cNvSpPr>
          <ns0:nvPr/>
        </ns0:nvSpPr>
        <ns0:spPr>
          <a:xfrm>
            <a:off x="876300" y="2333625"/>
            <a:ext cx="2124075" cy="2419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酒店前台、客房部、财务共同使用的客房运营系统，覆盖预约、入住、消费、退房结算和报表。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696EC784-F76C-4962-956D-3990263EB4F9}"/>
              </a:ext>
            </a:extLst>
          </ns0:cNvPr>
          <ns0:cNvSpPr>
            <a:spLocks noGrp="1"/>
          </ns0:cNvSpPr>
          <ns0:nvPr/>
        </ns0:nvSpPr>
        <ns0:spPr>
          <a:xfrm>
            <a:off x="3476625" y="1809750"/>
            <a:ext cx="2524125" cy="30480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A6551FDA-95D1-43EE-B8B6-22013669C1B2}"/>
              </a:ext>
            </a:extLst>
          </ns0:cNvPr>
          <ns0:cNvSpPr>
            <a:spLocks noGrp="1"/>
          </ns0:cNvSpPr>
          <ns0:nvPr/>
        </ns0:nvSpPr>
        <ns0:spPr>
          <a:xfrm>
            <a:off x="3476625" y="1809750"/>
            <a:ext cx="57150" cy="3048000"/>
          </a:xfrm>
          <a:prstGeom prst="rect">
            <a:avLst/>
          </a:prstGeom>
          <a:solidFill>
            <a:srgbClr val="1E6B6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04B35DB5-B9B0-4088-9403-E984D5CA8326}"/>
              </a:ext>
            </a:extLst>
          </ns0:cNvPr>
          <ns0:cNvSpPr>
            <a:spLocks noGrp="1"/>
          </ns0:cNvSpPr>
          <ns0:nvPr/>
        </ns0:nvSpPr>
        <ns0:spPr>
          <a:xfrm>
            <a:off x="3686175" y="1981200"/>
            <a:ext cx="2124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98FD9DE4-C3E8-4ACB-8759-A4B0492AAD21}"/>
              </a:ext>
            </a:extLst>
          </ns0:cNvPr>
          <ns0:cNvSpPr>
            <a:spLocks noGrp="1"/>
          </ns0:cNvSpPr>
          <ns0:nvPr/>
        </ns0:nvSpPr>
        <ns0:spPr>
          <a:xfrm>
            <a:off x="3686175" y="2333625"/>
            <a:ext cx="2124075" cy="2419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原生 HTML/CSS/JS 前端 + Python HTTP 后端 + PyMySQL + MySQL 8.0，数据库在 Navicat 中可直接查看。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041A224E-DBFA-46D8-A4C4-66FBB90B9AAB}"/>
              </a:ext>
            </a:extLst>
          </ns0:cNvPr>
          <ns0:cNvSpPr>
            <a:spLocks noGrp="1"/>
          </ns0:cNvSpPr>
          <ns0:nvPr/>
        </ns0:nvSpPr>
        <ns0:spPr>
          <a:xfrm>
            <a:off x="6286500" y="1809750"/>
            <a:ext cx="2524125" cy="30480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D803F1C3-B7AC-4E4A-9CC5-63D827782C83}"/>
              </a:ext>
            </a:extLst>
          </ns0:cNvPr>
          <ns0:cNvSpPr>
            <a:spLocks noGrp="1"/>
          </ns0:cNvSpPr>
          <ns0:nvPr/>
        </ns0:nvSpPr>
        <ns0:spPr>
          <a:xfrm>
            <a:off x="6286500" y="1809750"/>
            <a:ext cx="57150" cy="30480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2" name="">
            <a:extLst>
              <a:ext uri="{FF2B5EF4-FFF2-40B4-BE49-F238E27FC236}">
                <ns2:creationId id="{C6D54633-49E5-4FB8-AC54-0599CE292A46}"/>
              </a:ext>
            </a:extLst>
          </ns0:cNvPr>
          <ns0:cNvSpPr>
            <a:spLocks noGrp="1"/>
          </ns0:cNvSpPr>
          <ns0:nvPr/>
        </ns0:nvSpPr>
        <ns0:spPr>
          <a:xfrm>
            <a:off x="6496050" y="1981200"/>
            <a:ext cx="2124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重点证明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94C90DAF-A15B-4C92-BC2C-ED2691F4F16C}"/>
              </a:ext>
            </a:extLst>
          </ns0:cNvPr>
          <ns0:cNvSpPr>
            <a:spLocks noGrp="1"/>
          </ns0:cNvSpPr>
          <ns0:nvPr/>
        </ns0:nvSpPr>
        <ns0:spPr>
          <a:xfrm>
            <a:off x="6496050" y="2333625"/>
            <a:ext cx="2124075" cy="2419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通过主外键、约束、触发器、事务和后端二次校验，保证房态、日期、账单和客户档案准确。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B89F5BBB-609B-4861-830C-29A0AAA9DADE}"/>
              </a:ext>
            </a:extLst>
          </ns0:cNvPr>
          <ns0:cNvSpPr>
            <a:spLocks noGrp="1"/>
          </ns0:cNvSpPr>
          <ns0:nvPr/>
        </ns0:nvSpPr>
        <ns0:spPr>
          <a:xfrm>
            <a:off x="9096375" y="1809750"/>
            <a:ext cx="2238375" cy="30480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5" name="">
            <a:extLst>
              <a:ext uri="{FF2B5EF4-FFF2-40B4-BE49-F238E27FC236}">
                <ns2:creationId id="{893A0016-2612-48BA-9973-4591108E24CE}"/>
              </a:ext>
            </a:extLst>
          </ns0:cNvPr>
          <ns0:cNvSpPr>
            <a:spLocks noGrp="1"/>
          </ns0:cNvSpPr>
          <ns0:nvPr/>
        </ns0:nvSpPr>
        <ns0:spPr>
          <a:xfrm>
            <a:off x="9096375" y="1809750"/>
            <a:ext cx="57150" cy="3048000"/>
          </a:xfrm>
          <a:prstGeom prst="rect">
            <a:avLst/>
          </a:prstGeom>
          <a:solidFill>
            <a:srgbClr val="2B5E7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6" name="">
            <a:extLst>
              <a:ext uri="{FF2B5EF4-FFF2-40B4-BE49-F238E27FC236}">
                <ns2:creationId id="{A77F7D00-D604-4325-997C-24FCC8C64297}"/>
              </a:ext>
            </a:extLst>
          </ns0:cNvPr>
          <ns0:cNvSpPr>
            <a:spLocks noGrp="1"/>
          </ns0:cNvSpPr>
          <ns0:nvPr/>
        </ns0:nvSpPr>
        <ns0:spPr>
          <a:xfrm>
            <a:off x="9305925" y="1981200"/>
            <a:ext cx="18383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汇报安排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AE7F5BD9-6528-4F7C-8180-8AA539FCF81E}"/>
              </a:ext>
            </a:extLst>
          </ns0:cNvPr>
          <ns0:cNvSpPr>
            <a:spLocks noGrp="1"/>
          </ns0:cNvSpPr>
          <ns0:nvPr/>
        </ns0:nvSpPr>
        <ns0:spPr>
          <a:xfrm>
            <a:off x="9305925" y="2333625"/>
            <a:ext cx="1838325" cy="2419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1 需求与表结构</a:t>
            </a:r>
          </a:p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2 完整性设计</a:t>
            </a:r>
          </a:p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3 后端核心代码</a:t>
            </a:r>
          </a:p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4 创新点与总结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7CACBE20-5436-4607-B08D-DA1783725300}"/>
              </a:ext>
            </a:extLst>
          </ns0:cNvPr>
          <ns0:cNvSpPr>
            <a:spLocks noGrp="1"/>
          </ns0:cNvSpPr>
          <ns0:nvPr/>
        </ns0:nvSpPr>
        <ns0:spPr>
          <a:xfrm>
            <a:off x="1123950" y="5414963"/>
            <a:ext cx="9639300" cy="28575"/>
          </a:xfrm>
          <a:prstGeom prst="rect">
            <a:avLst/>
          </a:prstGeom>
          <a:solidFill>
            <a:srgbClr val="D7C8B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9" name="">
            <a:extLst>
              <a:ext uri="{FF2B5EF4-FFF2-40B4-BE49-F238E27FC236}">
                <ns2:creationId id="{B1145693-D41B-496A-9114-D8C2A44D438C}"/>
              </a:ext>
            </a:extLst>
          </ns0:cNvPr>
          <ns0:cNvSpPr>
            <a:spLocks noGrp="1"/>
          </ns0:cNvSpPr>
          <ns0:nvPr/>
        </ns0:nvSpPr>
        <ns0:spPr>
          <a:xfrm>
            <a:off x="1238250" y="5191125"/>
            <a:ext cx="876300" cy="476250"/>
          </a:xfrm>
          <a:prstGeom prst="rect">
            <a:avLst/>
          </a:prstGeom>
          <a:solidFill>
            <a:srgbClr val="F1E4D8"/>
          </a:solidFill>
          <a:ln w="14288">
            <a:solidFill>
              <a:srgbClr val="7E1F2F"/>
            </a:solidFill>
            <a:prstDash val="solid"/>
          </a:ln>
        </ns0:spPr>
      </ns0:sp>
      <ns0:sp>
        <ns0:nvSpPr>
          <ns0:cNvPr id="30" name="">
            <a:extLst>
              <a:ext uri="{FF2B5EF4-FFF2-40B4-BE49-F238E27FC236}">
                <ns2:creationId id="{4468E49C-0FE1-4EAE-877F-153B77D60DDF}"/>
              </a:ext>
            </a:extLst>
          </ns0:cNvPr>
          <ns0:cNvSpPr>
            <a:spLocks noGrp="1"/>
          </ns0:cNvSpPr>
          <ns0:nvPr/>
        </ns0:nvSpPr>
        <ns0:spPr>
          <a:xfrm>
            <a:off x="1314450" y="531495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12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5BAFC4DD-1DAE-46B2-8B6D-E3BA2965EBCD}"/>
              </a:ext>
            </a:extLst>
          </ns0:cNvPr>
          <ns0:cNvSpPr>
            <a:spLocks noGrp="1"/>
          </ns0:cNvSpPr>
          <ns0:nvPr/>
        </ns0:nvSpPr>
        <ns0:spPr>
          <a:xfrm>
            <a:off x="3000375" y="5191125"/>
            <a:ext cx="876300" cy="476250"/>
          </a:xfrm>
          <a:prstGeom prst="rect">
            <a:avLst/>
          </a:prstGeom>
          <a:solidFill>
            <a:srgbClr val="FFFDF9"/>
          </a:solidFill>
          <a:ln w="14288">
            <a:solidFill>
              <a:srgbClr val="1E6B66"/>
            </a:solidFill>
            <a:prstDash val="solid"/>
          </a:ln>
        </ns0:spPr>
      </ns0:sp>
      <ns0:sp>
        <ns0:nvSpPr>
          <ns0:cNvPr id="32" name="">
            <a:extLst>
              <a:ext uri="{FF2B5EF4-FFF2-40B4-BE49-F238E27FC236}">
                <ns2:creationId id="{5FDA5162-B197-4E0D-B7FE-F0CE525819A4}"/>
              </a:ext>
            </a:extLst>
          </ns0:cNvPr>
          <ns0:cNvSpPr>
            <a:spLocks noGrp="1"/>
          </ns0:cNvSpPr>
          <ns0:nvPr/>
        </ns0:nvSpPr>
        <ns0:spPr>
          <a:xfrm>
            <a:off x="3076575" y="531495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12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E-R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8B4D266B-D121-4781-8417-F27D865EAD85}"/>
              </a:ext>
            </a:extLst>
          </ns0:cNvPr>
          <ns0:cNvSpPr>
            <a:spLocks noGrp="1"/>
          </ns0:cNvSpPr>
          <ns0:nvPr/>
        </ns0:nvSpPr>
        <ns0:spPr>
          <a:xfrm>
            <a:off x="4762500" y="5191125"/>
            <a:ext cx="876300" cy="476250"/>
          </a:xfrm>
          <a:prstGeom prst="rect">
            <a:avLst/>
          </a:prstGeom>
          <a:solidFill>
            <a:srgbClr val="F1E4D8"/>
          </a:solidFill>
          <a:ln w="14288">
            <a:solidFill>
              <a:srgbClr val="7E1F2F"/>
            </a:solidFill>
            <a:prstDash val="solid"/>
          </a:ln>
        </ns0:spPr>
      </ns0:sp>
      <ns0:sp>
        <ns0:nvSpPr>
          <ns0:cNvPr id="34" name="">
            <a:extLst>
              <a:ext uri="{FF2B5EF4-FFF2-40B4-BE49-F238E27FC236}">
                <ns2:creationId id="{5B738624-C463-4556-863C-92102BF47447}"/>
              </a:ext>
            </a:extLst>
          </ns0:cNvPr>
          <ns0:cNvSpPr>
            <a:spLocks noGrp="1"/>
          </ns0:cNvSpPr>
          <ns0:nvPr/>
        </ns0:nvSpPr>
        <ns0:spPr>
          <a:xfrm>
            <a:off x="4838700" y="531495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12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表结构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B9A260A6-20CB-4ABF-BC4F-B9B89418BF08}"/>
              </a:ext>
            </a:extLst>
          </ns0:cNvPr>
          <ns0:cNvSpPr>
            <a:spLocks noGrp="1"/>
          </ns0:cNvSpPr>
          <ns0:nvPr/>
        </ns0:nvSpPr>
        <ns0:spPr>
          <a:xfrm>
            <a:off x="6524625" y="5191125"/>
            <a:ext cx="876300" cy="476250"/>
          </a:xfrm>
          <a:prstGeom prst="rect">
            <a:avLst/>
          </a:prstGeom>
          <a:solidFill>
            <a:srgbClr val="FFFDF9"/>
          </a:solidFill>
          <a:ln w="14288">
            <a:solidFill>
              <a:srgbClr val="1E6B66"/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091D07B5-13C4-4B86-9B89-CF98F6267CB3}"/>
              </a:ext>
            </a:extLst>
          </ns0:cNvPr>
          <ns0:cNvSpPr>
            <a:spLocks noGrp="1"/>
          </ns0:cNvSpPr>
          <ns0:nvPr/>
        </ns0:nvSpPr>
        <ns0:spPr>
          <a:xfrm>
            <a:off x="6600825" y="531495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12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触发器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F5232EE0-BEFB-4332-B73B-38EC9CD1BE8A}"/>
              </a:ext>
            </a:extLst>
          </ns0:cNvPr>
          <ns0:cNvSpPr>
            <a:spLocks noGrp="1"/>
          </ns0:cNvSpPr>
          <ns0:nvPr/>
        </ns0:nvSpPr>
        <ns0:spPr>
          <a:xfrm>
            <a:off x="8286750" y="5191125"/>
            <a:ext cx="876300" cy="476250"/>
          </a:xfrm>
          <a:prstGeom prst="rect">
            <a:avLst/>
          </a:prstGeom>
          <a:solidFill>
            <a:srgbClr val="F1E4D8"/>
          </a:solidFill>
          <a:ln w="14288">
            <a:solidFill>
              <a:srgbClr val="7E1F2F"/>
            </a:solidFill>
            <a:prstDash val="solid"/>
          </a:ln>
        </ns0:spPr>
      </ns0:sp>
      <ns0:sp>
        <ns0:nvSpPr>
          <ns0:cNvPr id="38" name="">
            <a:extLst>
              <a:ext uri="{FF2B5EF4-FFF2-40B4-BE49-F238E27FC236}">
                <ns2:creationId id="{CF5DBC46-21A9-4130-9CAF-67C0E9B62619}"/>
              </a:ext>
            </a:extLst>
          </ns0:cNvPr>
          <ns0:cNvSpPr>
            <a:spLocks noGrp="1"/>
          </ns0:cNvSpPr>
          <ns0:nvPr/>
        </ns0:nvSpPr>
        <ns0:spPr>
          <a:xfrm>
            <a:off x="8362950" y="531495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12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</ns0:txBody>
      </ns0:sp>
      <ns0:sp>
        <ns0:nvSpPr>
          <ns0:cNvPr id="39" name="">
            <a:extLst>
              <a:ext uri="{FF2B5EF4-FFF2-40B4-BE49-F238E27FC236}">
                <ns2:creationId id="{B4893EAE-AB30-4188-9CB7-87BAD2CA0943}"/>
              </a:ext>
            </a:extLst>
          </ns0:cNvPr>
          <ns0:cNvSpPr>
            <a:spLocks noGrp="1"/>
          </ns0:cNvSpPr>
          <ns0:nvPr/>
        </ns0:nvSpPr>
        <ns0:spPr>
          <a:xfrm>
            <a:off x="10048875" y="5191125"/>
            <a:ext cx="876300" cy="476250"/>
          </a:xfrm>
          <a:prstGeom prst="rect">
            <a:avLst/>
          </a:prstGeom>
          <a:solidFill>
            <a:srgbClr val="FFFDF9"/>
          </a:solidFill>
          <a:ln w="14288">
            <a:solidFill>
              <a:srgbClr val="1E6B66"/>
            </a:solidFill>
            <a:prstDash val="solid"/>
          </a:ln>
        </ns0:spPr>
      </ns0:sp>
      <ns0:sp>
        <ns0:nvSpPr>
          <ns0:cNvPr id="40" name="">
            <a:extLst>
              <a:ext uri="{FF2B5EF4-FFF2-40B4-BE49-F238E27FC236}">
                <ns2:creationId id="{CB1AA380-B2B5-47CD-AB2C-6CAA20005DBF}"/>
              </a:ext>
            </a:extLst>
          </ns0:cNvPr>
          <ns0:cNvSpPr>
            <a:spLocks noGrp="1"/>
          </ns0:cNvSpPr>
          <ns0:nvPr/>
        </ns0:nvSpPr>
        <ns0:spPr>
          <a:xfrm>
            <a:off x="10125075" y="531495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12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结算</a:t>
            </a:r>
          </a:p>
        </ns0:txBody>
      </ns0:sp>
    </ns0:spTree>
    <ns0:extLst>
      <ns0:ext uri="{BB962C8B-B14F-4D97-AF65-F5344CB8AC3E}">
        <ns3:creationId val="119922528"/>
      </ns0:ext>
    </ns0:extLst>
  </ns0:cSld>
</ns0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01ACCCF1-E11D-434F-8ECF-BB55625EEBF9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4D655C2C-536A-48E6-8FBF-E5DA878836E6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90A01D8D-D78B-4A8D-A217-27228C0CDCFC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71450" cy="68580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B1406DE3-6C29-4D3D-8D2D-8FCFEE8A9DA3}"/>
              </a:ext>
            </a:extLst>
          </ns0:cNvPr>
          <ns0:cNvSpPr>
            <a:spLocks noGrp="1"/>
          </ns0:cNvSpPr>
          <ns0:nvPr/>
        </ns0:nvSpPr>
        <ns0:spPr>
          <a:xfrm>
            <a:off x="171450" y="0"/>
            <a:ext cx="47625" cy="68580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1A373ADE-237A-4252-BF12-F4A71A15B1C8}"/>
              </a:ext>
            </a:extLst>
          </ns0:cNvPr>
          <ns0:cNvSpPr>
            <a:spLocks noGrp="1"/>
          </ns0:cNvSpPr>
          <ns0:nvPr/>
        </ns0:nvSpPr>
        <ns0:spPr>
          <a:xfrm>
            <a:off x="9810750" y="0"/>
            <a:ext cx="2381250" cy="2381250"/>
          </a:xfrm>
          <a:prstGeom prst="ellipse">
            <a:avLst/>
          </a:prstGeom>
          <a:solidFill>
            <a:srgbClr val="F0D8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5DD144E7-C552-4723-9D5F-BB65936FBD73}"/>
              </a:ext>
            </a:extLst>
          </ns0:cNvPr>
          <ns0:cNvSpPr>
            <a:spLocks noGrp="1"/>
          </ns0:cNvSpPr>
          <ns0:nvPr/>
        </ns0:nvSpPr>
        <ns0:spPr>
          <a:xfrm>
            <a:off x="10191750" y="381000"/>
            <a:ext cx="1638300" cy="1638300"/>
          </a:xfrm>
          <a:prstGeom prst="ellipse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7" name="">
            <a:extLst>
              <a:ext uri="{FF2B5EF4-FFF2-40B4-BE49-F238E27FC236}">
                <ns2:creationId id="{35BBD991-C53D-46A7-882B-E1935C1035AC}"/>
              </a:ext>
            </a:extLst>
          </ns0:cNvPr>
          <ns0:cNvSpPr>
            <a:spLocks noGrp="1"/>
          </ns0:cNvSpPr>
          <ns0:nvPr/>
        </ns0:nvSpPr>
        <ns0:spPr>
          <a:xfrm>
            <a:off x="6096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5E9198C-53E0-44DC-B4BF-5D59727260B8}"/>
              </a:ext>
            </a:extLst>
          </ns0:cNvPr>
          <ns0:cNvSpPr>
            <a:spLocks noGrp="1"/>
          </ns0:cNvSpPr>
          <ns0:nvPr/>
        </ns0:nvSpPr>
        <ns0:spPr>
          <a:xfrm>
            <a:off x="609600" y="66675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系统围绕“房态准确”和“账单准确”两个核心目标建模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3289EA9D-105F-401B-BDF6-78235A91A675}"/>
              </a:ext>
            </a:extLst>
          </ns0:cNvPr>
          <ns0:cNvSpPr>
            <a:spLocks noGrp="1"/>
          </ns0:cNvSpPr>
          <ns0:nvPr/>
        </ns0:nvSpPr>
        <ns0:spPr>
          <a:xfrm>
            <a:off x="609600" y="13906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数据库设计从业务流程反推数据对象，避免只做页面增删改查。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CDBC5BBA-681A-4021-9C87-0953581FE8AE}"/>
              </a:ext>
            </a:extLst>
          </ns0:cNvPr>
          <ns0:cNvSpPr>
            <a:spLocks noGrp="1"/>
          </ns0:cNvSpPr>
          <ns0:nvPr/>
        </ns0:nvSpPr>
        <ns0:spPr>
          <a:xfrm>
            <a:off x="609600" y="64960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rPr>
              <a:t>酒店客房管理系统 · 数据库与后端答辩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8B7C5444-2429-4195-AF77-A708849395A0}"/>
              </a:ext>
            </a:extLst>
          </ns0:cNvPr>
          <ns0:cNvSpPr>
            <a:spLocks noGrp="1"/>
          </ns0:cNvSpPr>
          <ns0:nvPr/>
        </ns0:nvSpPr>
        <ns0:spPr>
          <a:xfrm>
            <a:off x="11125200" y="64579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3B90EE9C-5301-4AD9-BFF1-9E193515FA36}"/>
              </a:ext>
            </a:extLst>
          </ns0:cNvPr>
          <ns0:cNvSpPr>
            <a:spLocks noGrp="1"/>
          </ns0:cNvSpPr>
          <ns0:nvPr/>
        </ns0:nvSpPr>
        <ns0:spPr>
          <a:xfrm>
            <a:off x="609600" y="1752600"/>
            <a:ext cx="2952750" cy="36957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2AFCCE3E-B700-4078-9E62-28AA08697B9A}"/>
              </a:ext>
            </a:extLst>
          </ns0:cNvPr>
          <ns0:cNvSpPr>
            <a:spLocks noGrp="1"/>
          </ns0:cNvSpPr>
          <ns0:nvPr/>
        </ns0:nvSpPr>
        <ns0:spPr>
          <a:xfrm>
            <a:off x="609600" y="1752600"/>
            <a:ext cx="57150" cy="36957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4EB2A274-E275-465A-8627-4A578C23B335}"/>
              </a:ext>
            </a:extLst>
          </ns0:cNvPr>
          <ns0:cNvSpPr>
            <a:spLocks noGrp="1"/>
          </ns0:cNvSpPr>
          <ns0:nvPr/>
        </ns0:nvSpPr>
        <ns0:spPr>
          <a:xfrm>
            <a:off x="819150" y="1924050"/>
            <a:ext cx="255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参与角色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75BFF22E-AAD9-4056-81EA-6BCA63A4D18A}"/>
              </a:ext>
            </a:extLst>
          </ns0:cNvPr>
          <ns0:cNvSpPr>
            <a:spLocks noGrp="1"/>
          </ns0:cNvSpPr>
          <ns0:nvPr/>
        </ns0:nvSpPr>
        <ns0:spPr>
          <a:xfrm>
            <a:off x="819150" y="2276475"/>
            <a:ext cx="2552700" cy="3067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管理员：账号、审计、基础配置</a:t>
            </a:r>
          </a:p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前台：预约、入住、客户登记</a:t>
            </a:r>
          </a:p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客房部：维护客房状态</a:t>
            </a:r>
          </a:p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财务：消费登记、退房结算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2C66FB44-E4F0-47BE-BA43-9BCBD729D2DC}"/>
              </a:ext>
            </a:extLst>
          </ns0:cNvPr>
          <ns0:cNvSpPr>
            <a:spLocks noGrp="1"/>
          </ns0:cNvSpPr>
          <ns0:nvPr/>
        </ns0:nvSpPr>
        <ns0:spPr>
          <a:xfrm>
            <a:off x="4476750" y="1714500"/>
            <a:ext cx="1428750" cy="533400"/>
          </a:xfrm>
          <a:prstGeom prst="rect">
            <a:avLst/>
          </a:prstGeom>
          <a:solidFill>
            <a:srgbClr val="FFFDF9"/>
          </a:solidFill>
          <a:ln w="14288">
            <a:solidFill>
              <a:srgbClr val="7E1F2F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F70AB678-5B60-49C4-8C0C-DB7BFBF0C32B}"/>
              </a:ext>
            </a:extLst>
          </ns0:cNvPr>
          <ns0:cNvSpPr>
            <a:spLocks noGrp="1"/>
          </ns0:cNvSpPr>
          <ns0:nvPr/>
        </ns0:nvSpPr>
        <ns0:spPr>
          <a:xfrm>
            <a:off x="4552950" y="18669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客户/住客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7CA8FD39-FBA5-449C-9CF6-C55E7E104FAB}"/>
              </a:ext>
            </a:extLst>
          </ns0:cNvPr>
          <ns0:cNvSpPr>
            <a:spLocks noGrp="1"/>
          </ns0:cNvSpPr>
          <ns0:nvPr/>
        </ns0:nvSpPr>
        <ns0:spPr>
          <a:xfrm>
            <a:off x="7000875" y="1714500"/>
            <a:ext cx="1428750" cy="533400"/>
          </a:xfrm>
          <a:prstGeom prst="rect">
            <a:avLst/>
          </a:prstGeom>
          <a:solidFill>
            <a:srgbClr val="FFFDF9"/>
          </a:solidFill>
          <a:ln w="14288">
            <a:solidFill>
              <a:srgbClr val="1E6B66"/>
            </a:solidFill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84ECABBE-E66F-4618-87D4-4788EB553EB7}"/>
              </a:ext>
            </a:extLst>
          </ns0:cNvPr>
          <ns0:cNvSpPr>
            <a:spLocks noGrp="1"/>
          </ns0:cNvSpPr>
          <ns0:nvPr/>
        </ns0:nvSpPr>
        <ns0:spPr>
          <a:xfrm>
            <a:off x="7077075" y="18669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预约管理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156A005A-AB91-45CC-ABF3-B2EF3487B989}"/>
              </a:ext>
            </a:extLst>
          </ns0:cNvPr>
          <ns0:cNvSpPr>
            <a:spLocks noGrp="1"/>
          </ns0:cNvSpPr>
          <ns0:nvPr/>
        </ns0:nvSpPr>
        <ns0:spPr>
          <a:xfrm>
            <a:off x="4476750" y="3238500"/>
            <a:ext cx="1428750" cy="533400"/>
          </a:xfrm>
          <a:prstGeom prst="rect">
            <a:avLst/>
          </a:prstGeom>
          <a:solidFill>
            <a:srgbClr val="FFFDF9"/>
          </a:solidFill>
          <a:ln w="14288">
            <a:solidFill>
              <a:srgbClr val="1E6B66"/>
            </a:solidFill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3E8FD634-3B9A-4DF6-94B9-0F2D2513D974}"/>
              </a:ext>
            </a:extLst>
          </ns0:cNvPr>
          <ns0:cNvSpPr>
            <a:spLocks noGrp="1"/>
          </ns0:cNvSpPr>
          <ns0:nvPr/>
        </ns0:nvSpPr>
        <ns0:spPr>
          <a:xfrm>
            <a:off x="4552950" y="33909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入住登记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16B80514-9EA3-481A-8630-EB5D1F39EE1A}"/>
              </a:ext>
            </a:extLst>
          </ns0:cNvPr>
          <ns0:cNvSpPr>
            <a:spLocks noGrp="1"/>
          </ns0:cNvSpPr>
          <ns0:nvPr/>
        </ns0:nvSpPr>
        <ns0:spPr>
          <a:xfrm>
            <a:off x="7000875" y="3238500"/>
            <a:ext cx="1428750" cy="533400"/>
          </a:xfrm>
          <a:prstGeom prst="rect">
            <a:avLst/>
          </a:prstGeom>
          <a:solidFill>
            <a:srgbClr val="FFFDF9"/>
          </a:solidFill>
          <a:ln w="14288">
            <a:solidFill>
              <a:srgbClr val="C79344"/>
            </a:solidFill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0C3B4ACB-5576-44A3-81D5-82C442CF8935}"/>
              </a:ext>
            </a:extLst>
          </ns0:cNvPr>
          <ns0:cNvSpPr>
            <a:spLocks noGrp="1"/>
          </ns0:cNvSpPr>
          <ns0:nvPr/>
        </ns0:nvSpPr>
        <ns0:spPr>
          <a:xfrm>
            <a:off x="7077075" y="33909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消费结算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AC4E8D04-816B-4E42-A423-BA3520491339}"/>
              </a:ext>
            </a:extLst>
          </ns0:cNvPr>
          <ns0:cNvSpPr>
            <a:spLocks noGrp="1"/>
          </ns0:cNvSpPr>
          <ns0:nvPr/>
        </ns0:nvSpPr>
        <ns0:spPr>
          <a:xfrm>
            <a:off x="5715000" y="4762500"/>
            <a:ext cx="1524000" cy="533400"/>
          </a:xfrm>
          <a:prstGeom prst="rect">
            <a:avLst/>
          </a:prstGeom>
          <a:solidFill>
            <a:srgbClr val="FFFDF9"/>
          </a:solidFill>
          <a:ln w="14288">
            <a:solidFill>
              <a:srgbClr val="2B5E7E"/>
            </a:solidFill>
            <a:prstDash val="solid"/>
          </a:ln>
        </ns0:spPr>
      </ns0:sp>
      <ns0:sp>
        <ns0:nvSpPr>
          <ns0:cNvPr id="25" name="">
            <a:extLst>
              <a:ext uri="{FF2B5EF4-FFF2-40B4-BE49-F238E27FC236}">
                <ns2:creationId id="{98F2ABE8-9DC3-4140-A866-86D4AC788EB0}"/>
              </a:ext>
            </a:extLst>
          </ns0:cNvPr>
          <ns0:cNvSpPr>
            <a:spLocks noGrp="1"/>
          </ns0:cNvSpPr>
          <ns0:nvPr/>
        </ns0:nvSpPr>
        <ns0:spPr>
          <a:xfrm>
            <a:off x="5791200" y="49149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报表/审计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8FBBCE94-93F2-45D9-8AE3-CE5D2634E7CD}"/>
              </a:ext>
            </a:extLst>
          </ns0:cNvPr>
          <ns0:cNvSpPr>
            <a:spLocks noGrp="1"/>
          </ns0:cNvSpPr>
          <ns0:nvPr/>
        </ns0:nvSpPr>
        <ns0:spPr>
          <a:xfrm>
            <a:off x="5905500" y="1962150"/>
            <a:ext cx="1095375" cy="38100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7" name="">
            <a:extLst>
              <a:ext uri="{FF2B5EF4-FFF2-40B4-BE49-F238E27FC236}">
                <ns2:creationId id="{B0B42939-5BBA-40F3-B9B8-102F29668131}"/>
              </a:ext>
            </a:extLst>
          </ns0:cNvPr>
          <ns0:cNvSpPr>
            <a:spLocks noGrp="1"/>
          </ns0:cNvSpPr>
          <ns0:nvPr/>
        </ns0:nvSpPr>
        <ns0:spPr>
          <a:xfrm>
            <a:off x="7696200" y="2247900"/>
            <a:ext cx="38100" cy="990600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8" name="">
            <a:extLst>
              <a:ext uri="{FF2B5EF4-FFF2-40B4-BE49-F238E27FC236}">
                <ns2:creationId id="{E57B82E2-2F2C-4875-84A5-675D5825036F}"/>
              </a:ext>
            </a:extLst>
          </ns0:cNvPr>
          <ns0:cNvSpPr>
            <a:spLocks noGrp="1"/>
          </ns0:cNvSpPr>
          <ns0:nvPr/>
        </ns0:nvSpPr>
        <ns0:spPr>
          <a:xfrm>
            <a:off x="5905500" y="3486150"/>
            <a:ext cx="1095375" cy="38100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9" name="">
            <a:extLst>
              <a:ext uri="{FF2B5EF4-FFF2-40B4-BE49-F238E27FC236}">
                <ns2:creationId id="{40DCD375-D57D-4BB2-87A5-A11F2B12BAE7}"/>
              </a:ext>
            </a:extLst>
          </ns0:cNvPr>
          <ns0:cNvSpPr>
            <a:spLocks noGrp="1"/>
          </ns0:cNvSpPr>
          <ns0:nvPr/>
        </ns0:nvSpPr>
        <ns0:spPr>
          <a:xfrm>
            <a:off x="5172075" y="3771900"/>
            <a:ext cx="38100" cy="990600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0" name="">
            <a:extLst>
              <a:ext uri="{FF2B5EF4-FFF2-40B4-BE49-F238E27FC236}">
                <ns2:creationId id="{449A5070-D7FB-4254-B39E-B6925DC268DC}"/>
              </a:ext>
            </a:extLst>
          </ns0:cNvPr>
          <ns0:cNvSpPr>
            <a:spLocks noGrp="1"/>
          </ns0:cNvSpPr>
          <ns0:nvPr/>
        </ns0:nvSpPr>
        <ns0:spPr>
          <a:xfrm>
            <a:off x="5715000" y="5010150"/>
            <a:ext cx="190500" cy="38100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1" name="">
            <a:extLst>
              <a:ext uri="{FF2B5EF4-FFF2-40B4-BE49-F238E27FC236}">
                <ns2:creationId id="{112F1A6E-BBA0-4698-8665-B439DE8EAF03}"/>
              </a:ext>
            </a:extLst>
          </ns0:cNvPr>
          <ns0:cNvSpPr>
            <a:spLocks noGrp="1"/>
          </ns0:cNvSpPr>
          <ns0:nvPr/>
        </ns0:nvSpPr>
        <ns0:spPr>
          <a:xfrm>
            <a:off x="8953500" y="1752600"/>
            <a:ext cx="2381250" cy="36957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32" name="">
            <a:extLst>
              <a:ext uri="{FF2B5EF4-FFF2-40B4-BE49-F238E27FC236}">
                <ns2:creationId id="{C6345022-D22D-458C-9446-5D571D39EB0B}"/>
              </a:ext>
            </a:extLst>
          </ns0:cNvPr>
          <ns0:cNvSpPr>
            <a:spLocks noGrp="1"/>
          </ns0:cNvSpPr>
          <ns0:nvPr/>
        </ns0:nvSpPr>
        <ns0:spPr>
          <a:xfrm>
            <a:off x="8953500" y="1752600"/>
            <a:ext cx="57150" cy="3695700"/>
          </a:xfrm>
          <a:prstGeom prst="rect">
            <a:avLst/>
          </a:prstGeom>
          <a:solidFill>
            <a:srgbClr val="2B5E7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3" name="">
            <a:extLst>
              <a:ext uri="{FF2B5EF4-FFF2-40B4-BE49-F238E27FC236}">
                <ns2:creationId id="{1CBCB8A5-7AC5-4F0B-A82E-84AF68E3D2AB}"/>
              </a:ext>
            </a:extLst>
          </ns0:cNvPr>
          <ns0:cNvSpPr>
            <a:spLocks noGrp="1"/>
          </ns0:cNvSpPr>
          <ns0:nvPr/>
        </ns0:nvSpPr>
        <ns0:spPr>
          <a:xfrm>
            <a:off x="9163050" y="1924050"/>
            <a:ext cx="198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关键数据流</a:t>
            </a:r>
          </a:p>
        </ns0:txBody>
      </ns0:sp>
      <ns0:sp>
        <ns0:nvSpPr>
          <ns0:cNvPr id="34" name="">
            <a:extLst>
              <a:ext uri="{FF2B5EF4-FFF2-40B4-BE49-F238E27FC236}">
                <ns2:creationId id="{341229DE-4B4D-4057-9BCF-96CFB78455D0}"/>
              </a:ext>
            </a:extLst>
          </ns0:cNvPr>
          <ns0:cNvSpPr>
            <a:spLocks noGrp="1"/>
          </ns0:cNvSpPr>
          <ns0:nvPr/>
        </ns0:nvSpPr>
        <ns0:spPr>
          <a:xfrm>
            <a:off x="9163050" y="2276475"/>
            <a:ext cx="1981200" cy="3067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客户资料进入客户表</a:t>
            </a:r>
          </a:p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预约写入预约表</a:t>
            </a:r>
          </a:p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入住写入入住表并更新房态</a:t>
            </a:r>
          </a:p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额外消费归集到入住单</a:t>
            </a:r>
          </a:p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退房生成结算单和报表</a:t>
            </a:r>
          </a:p>
        </ns0:txBody>
      </ns0:sp>
    </ns0:spTree>
    <ns0:extLst>
      <ns0:ext uri="{BB962C8B-B14F-4D97-AF65-F5344CB8AC3E}">
        <ns3:creationId val="2080818104"/>
      </ns0:ext>
    </ns0:extLst>
  </ns0:cSld>
</ns0:sld>
</file>

<file path=ppt/slides/slide4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FA22A8AD-806E-48A9-B6F8-AE70BC7F27E6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AE66612B-B1BC-4329-B484-36A1F656CEAB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805368F4-85CF-4DA4-AF44-71D5AF339257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71450" cy="68580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46A7E0ED-BB99-45C3-8023-BC8037BEEE3C}"/>
              </a:ext>
            </a:extLst>
          </ns0:cNvPr>
          <ns0:cNvSpPr>
            <a:spLocks noGrp="1"/>
          </ns0:cNvSpPr>
          <ns0:nvPr/>
        </ns0:nvSpPr>
        <ns0:spPr>
          <a:xfrm>
            <a:off x="171450" y="0"/>
            <a:ext cx="47625" cy="68580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3F1E7B2B-8175-4BB7-9C18-2FCE480C716E}"/>
              </a:ext>
            </a:extLst>
          </ns0:cNvPr>
          <ns0:cNvSpPr>
            <a:spLocks noGrp="1"/>
          </ns0:cNvSpPr>
          <ns0:nvPr/>
        </ns0:nvSpPr>
        <ns0:spPr>
          <a:xfrm>
            <a:off x="9810750" y="0"/>
            <a:ext cx="2381250" cy="2381250"/>
          </a:xfrm>
          <a:prstGeom prst="ellipse">
            <a:avLst/>
          </a:prstGeom>
          <a:solidFill>
            <a:srgbClr val="F0D8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7D5976C2-2D2F-4BCF-8F5C-A658F5DF4484}"/>
              </a:ext>
            </a:extLst>
          </ns0:cNvPr>
          <ns0:cNvSpPr>
            <a:spLocks noGrp="1"/>
          </ns0:cNvSpPr>
          <ns0:nvPr/>
        </ns0:nvSpPr>
        <ns0:spPr>
          <a:xfrm>
            <a:off x="10191750" y="381000"/>
            <a:ext cx="1638300" cy="1638300"/>
          </a:xfrm>
          <a:prstGeom prst="ellipse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7" name="">
            <a:extLst>
              <a:ext uri="{FF2B5EF4-FFF2-40B4-BE49-F238E27FC236}">
                <ns2:creationId id="{EB4E4AC2-99F5-4035-BD32-92774D3DCB1B}"/>
              </a:ext>
            </a:extLst>
          </ns0:cNvPr>
          <ns0:cNvSpPr>
            <a:spLocks noGrp="1"/>
          </ns0:cNvSpPr>
          <ns0:nvPr/>
        </ns0:nvSpPr>
        <ns0:spPr>
          <a:xfrm>
            <a:off x="6096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概念结构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2879AF08-C011-48F1-8825-0BEBC0C27120}"/>
              </a:ext>
            </a:extLst>
          </ns0:cNvPr>
          <ns0:cNvSpPr>
            <a:spLocks noGrp="1"/>
          </ns0:cNvSpPr>
          <ns0:nvPr/>
        </ns0:nvSpPr>
        <ns0:spPr>
          <a:xfrm>
            <a:off x="609600" y="66675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E-R 设计把酒店业务拆成 8 个实体和 6 条核心关系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8F429DEB-C0FC-41A8-9480-C39B9FA0C351}"/>
              </a:ext>
            </a:extLst>
          </ns0:cNvPr>
          <ns0:cNvSpPr>
            <a:spLocks noGrp="1"/>
          </ns0:cNvSpPr>
          <ns0:nvPr/>
        </ns0:nvSpPr>
        <ns0:spPr>
          <a:xfrm>
            <a:off x="609600" y="64960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rPr>
              <a:t>酒店客房管理系统 · 数据库与后端答辩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D58CD465-FF1D-4ACA-BFE2-5DD28D913918}"/>
              </a:ext>
            </a:extLst>
          </ns0:cNvPr>
          <ns0:cNvSpPr>
            <a:spLocks noGrp="1"/>
          </ns0:cNvSpPr>
          <ns0:nvPr/>
        </ns0:nvSpPr>
        <ns0:spPr>
          <a:xfrm>
            <a:off x="11125200" y="64579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E42FA6CE-C2D8-44A2-9F6D-5BE0317173C7}"/>
              </a:ext>
            </a:extLst>
          </ns0:cNvPr>
          <ns0:cNvSpPr>
            <a:spLocks noGrp="1"/>
          </ns0:cNvSpPr>
          <ns0:nvPr/>
        </ns0:nvSpPr>
        <ns0:spPr>
          <a:xfrm>
            <a:off x="609600" y="1428750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客户、客房、预约、入住、消费、结算是主链路；用户和审计日志支撑权限与追踪。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B08E1065-177E-4BE8-B70F-FB8681613D35}"/>
              </a:ext>
            </a:extLst>
          </ns0:cNvPr>
          <ns0:cNvSpPr>
            <a:spLocks noGrp="1"/>
          </ns0:cNvSpPr>
          <ns0:nvPr/>
        </ns0:nvSpPr>
        <ns0:spPr>
          <a:xfrm>
            <a:off x="876300" y="2095500"/>
            <a:ext cx="1381125" cy="666750"/>
          </a:xfrm>
          <a:prstGeom prst="rect">
            <a:avLst/>
          </a:prstGeom>
          <a:solidFill>
            <a:srgbClr val="FFFDF9"/>
          </a:solidFill>
          <a:ln w="14288">
            <a:solidFill>
              <a:srgbClr val="7E1F2F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3BE42820-C5BF-4444-9601-F86A5EAC4407}"/>
              </a:ext>
            </a:extLst>
          </ns0:cNvPr>
          <ns0:cNvSpPr>
            <a:spLocks noGrp="1"/>
          </ns0:cNvSpPr>
          <ns0:nvPr/>
        </ns0:nvSpPr>
        <ns0:spPr>
          <a:xfrm>
            <a:off x="952500" y="2209800"/>
            <a:ext cx="12287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客户</a:t>
            </a:r>
          </a:p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customers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08CAEA77-80A5-4999-8BF9-637B6DA79291}"/>
              </a:ext>
            </a:extLst>
          </ns0:cNvPr>
          <ns0:cNvSpPr>
            <a:spLocks noGrp="1"/>
          </ns0:cNvSpPr>
          <ns0:nvPr/>
        </ns0:nvSpPr>
        <ns0:spPr>
          <a:xfrm>
            <a:off x="3181350" y="1762125"/>
            <a:ext cx="1571625" cy="666750"/>
          </a:xfrm>
          <a:prstGeom prst="rect">
            <a:avLst/>
          </a:prstGeom>
          <a:solidFill>
            <a:srgbClr val="FFFDF9"/>
          </a:solidFill>
          <a:ln w="14288">
            <a:solidFill>
              <a:srgbClr val="1E6B66"/>
            </a:solidFill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E35939D3-0C9A-422D-8BEF-33AB36E0D43C}"/>
              </a:ext>
            </a:extLst>
          </ns0:cNvPr>
          <ns0:cNvSpPr>
            <a:spLocks noGrp="1"/>
          </ns0:cNvSpPr>
          <ns0:nvPr/>
        </ns0:nvSpPr>
        <ns0:spPr>
          <a:xfrm>
            <a:off x="3257550" y="1876425"/>
            <a:ext cx="14192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预约</a:t>
            </a:r>
          </a:p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reservations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6EC2690A-B201-4EF1-A49B-DFEF655B947E}"/>
              </a:ext>
            </a:extLst>
          </ns0:cNvPr>
          <ns0:cNvSpPr>
            <a:spLocks noGrp="1"/>
          </ns0:cNvSpPr>
          <ns0:nvPr/>
        </ns0:nvSpPr>
        <ns0:spPr>
          <a:xfrm>
            <a:off x="5734050" y="1762125"/>
            <a:ext cx="1381125" cy="666750"/>
          </a:xfrm>
          <a:prstGeom prst="rect">
            <a:avLst/>
          </a:prstGeom>
          <a:solidFill>
            <a:srgbClr val="FFFDF9"/>
          </a:solidFill>
          <a:ln w="14288">
            <a:solidFill>
              <a:srgbClr val="C79344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8B7D7C64-920D-46A1-9E04-00A82F14A696}"/>
              </a:ext>
            </a:extLst>
          </ns0:cNvPr>
          <ns0:cNvSpPr>
            <a:spLocks noGrp="1"/>
          </ns0:cNvSpPr>
          <ns0:nvPr/>
        </ns0:nvSpPr>
        <ns0:spPr>
          <a:xfrm>
            <a:off x="5810250" y="1876425"/>
            <a:ext cx="12287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客房</a:t>
            </a:r>
          </a:p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rooms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69B0D939-6EF2-45C3-A4A4-C587D0130A96}"/>
              </a:ext>
            </a:extLst>
          </ns0:cNvPr>
          <ns0:cNvSpPr>
            <a:spLocks noGrp="1"/>
          </ns0:cNvSpPr>
          <ns0:nvPr/>
        </ns0:nvSpPr>
        <ns0:spPr>
          <a:xfrm>
            <a:off x="3181350" y="3286125"/>
            <a:ext cx="1571625" cy="666750"/>
          </a:xfrm>
          <a:prstGeom prst="rect">
            <a:avLst/>
          </a:prstGeom>
          <a:solidFill>
            <a:srgbClr val="FFFDF9"/>
          </a:solidFill>
          <a:ln w="14288">
            <a:solidFill>
              <a:srgbClr val="1E6B66"/>
            </a:solidFill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512F0F4B-6FDD-4EB9-94BA-1BE003982CD7}"/>
              </a:ext>
            </a:extLst>
          </ns0:cNvPr>
          <ns0:cNvSpPr>
            <a:spLocks noGrp="1"/>
          </ns0:cNvSpPr>
          <ns0:nvPr/>
        </ns0:nvSpPr>
        <ns0:spPr>
          <a:xfrm>
            <a:off x="3257550" y="3400425"/>
            <a:ext cx="14192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入住</a:t>
            </a:r>
          </a:p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stays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26A55A70-FCDF-4423-8003-D6745F772DA6}"/>
              </a:ext>
            </a:extLst>
          </ns0:cNvPr>
          <ns0:cNvSpPr>
            <a:spLocks noGrp="1"/>
          </ns0:cNvSpPr>
          <ns0:nvPr/>
        </ns0:nvSpPr>
        <ns0:spPr>
          <a:xfrm>
            <a:off x="5734050" y="3286125"/>
            <a:ext cx="1666875" cy="666750"/>
          </a:xfrm>
          <a:prstGeom prst="rect">
            <a:avLst/>
          </a:prstGeom>
          <a:solidFill>
            <a:srgbClr val="FFFDF9"/>
          </a:solidFill>
          <a:ln w="14288">
            <a:solidFill>
              <a:srgbClr val="7E1F2F"/>
            </a:solidFill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2AF99994-B32F-4982-AF76-1369355D990D}"/>
              </a:ext>
            </a:extLst>
          </ns0:cNvPr>
          <ns0:cNvSpPr>
            <a:spLocks noGrp="1"/>
          </ns0:cNvSpPr>
          <ns0:nvPr/>
        </ns0:nvSpPr>
        <ns0:spPr>
          <a:xfrm>
            <a:off x="5810250" y="3400425"/>
            <a:ext cx="15144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额外消费</a:t>
            </a:r>
          </a:p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extra_charges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B3506FAA-7DED-44F9-A18A-61C25DC087B6}"/>
              </a:ext>
            </a:extLst>
          </ns0:cNvPr>
          <ns0:cNvSpPr>
            <a:spLocks noGrp="1"/>
          </ns0:cNvSpPr>
          <ns0:nvPr/>
        </ns0:nvSpPr>
        <ns0:spPr>
          <a:xfrm>
            <a:off x="8477250" y="3286125"/>
            <a:ext cx="1571625" cy="666750"/>
          </a:xfrm>
          <a:prstGeom prst="rect">
            <a:avLst/>
          </a:prstGeom>
          <a:solidFill>
            <a:srgbClr val="FFFDF9"/>
          </a:solidFill>
          <a:ln w="14288">
            <a:solidFill>
              <a:srgbClr val="C79344"/>
            </a:solidFill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BE99AF2B-C0AB-4105-AB43-D2B15E874C21}"/>
              </a:ext>
            </a:extLst>
          </ns0:cNvPr>
          <ns0:cNvSpPr>
            <a:spLocks noGrp="1"/>
          </ns0:cNvSpPr>
          <ns0:nvPr/>
        </ns0:nvSpPr>
        <ns0:spPr>
          <a:xfrm>
            <a:off x="8553450" y="3400425"/>
            <a:ext cx="14192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结算</a:t>
            </a:r>
          </a:p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settlements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44194A98-64E1-4E8B-BB02-87867C2A7CD2}"/>
              </a:ext>
            </a:extLst>
          </ns0:cNvPr>
          <ns0:cNvSpPr>
            <a:spLocks noGrp="1"/>
          </ns0:cNvSpPr>
          <ns0:nvPr/>
        </ns0:nvSpPr>
        <ns0:spPr>
          <a:xfrm>
            <a:off x="8572500" y="1762125"/>
            <a:ext cx="1381125" cy="666750"/>
          </a:xfrm>
          <a:prstGeom prst="rect">
            <a:avLst/>
          </a:prstGeom>
          <a:solidFill>
            <a:srgbClr val="FFFDF9"/>
          </a:solidFill>
          <a:ln w="14288">
            <a:solidFill>
              <a:srgbClr val="2B5E7E"/>
            </a:solidFill>
            <a:prstDash val="solid"/>
          </a:ln>
        </ns0:spPr>
      </ns0:sp>
      <ns0:sp>
        <ns0:nvSpPr>
          <ns0:cNvPr id="25" name="">
            <a:extLst>
              <a:ext uri="{FF2B5EF4-FFF2-40B4-BE49-F238E27FC236}">
                <ns2:creationId id="{512EC766-AB38-4A71-B688-855459AAC9C0}"/>
              </a:ext>
            </a:extLst>
          </ns0:cNvPr>
          <ns0:cNvSpPr>
            <a:spLocks noGrp="1"/>
          </ns0:cNvSpPr>
          <ns0:nvPr/>
        </ns0:nvSpPr>
        <ns0:spPr>
          <a:xfrm>
            <a:off x="8648700" y="1876425"/>
            <a:ext cx="12287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users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2064B759-1B37-40A4-93B5-BB6E4DEFD0DF}"/>
              </a:ext>
            </a:extLst>
          </ns0:cNvPr>
          <ns0:cNvSpPr>
            <a:spLocks noGrp="1"/>
          </ns0:cNvSpPr>
          <ns0:nvPr/>
        </ns0:nvSpPr>
        <ns0:spPr>
          <a:xfrm>
            <a:off x="8572500" y="4953000"/>
            <a:ext cx="1571625" cy="666750"/>
          </a:xfrm>
          <a:prstGeom prst="rect">
            <a:avLst/>
          </a:prstGeom>
          <a:solidFill>
            <a:srgbClr val="FFFDF9"/>
          </a:solidFill>
          <a:ln w="14288">
            <a:solidFill>
              <a:srgbClr val="2B5E7E"/>
            </a:solidFill>
            <a:prstDash val="solid"/>
          </a:ln>
        </ns0:spPr>
      </ns0:sp>
      <ns0:sp>
        <ns0:nvSpPr>
          <ns0:cNvPr id="27" name="">
            <a:extLst>
              <a:ext uri="{FF2B5EF4-FFF2-40B4-BE49-F238E27FC236}">
                <ns2:creationId id="{ED5A9111-7F9B-48D9-A866-5432479D5306}"/>
              </a:ext>
            </a:extLst>
          </ns0:cNvPr>
          <ns0:cNvSpPr>
            <a:spLocks noGrp="1"/>
          </ns0:cNvSpPr>
          <ns0:nvPr/>
        </ns0:nvSpPr>
        <ns0:spPr>
          <a:xfrm>
            <a:off x="8648700" y="5067300"/>
            <a:ext cx="14192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审计日志</a:t>
            </a:r>
          </a:p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audit_logs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EB46CB73-6C73-483B-BB2F-7C6696A861D5}"/>
              </a:ext>
            </a:extLst>
          </ns0:cNvPr>
          <ns0:cNvSpPr>
            <a:spLocks noGrp="1"/>
          </ns0:cNvSpPr>
          <ns0:nvPr/>
        </ns0:nvSpPr>
        <ns0:spPr>
          <a:xfrm>
            <a:off x="2257425" y="2409825"/>
            <a:ext cx="923925" cy="38100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9" name="">
            <a:extLst>
              <a:ext uri="{FF2B5EF4-FFF2-40B4-BE49-F238E27FC236}">
                <ns2:creationId id="{AC8D57C4-FB2C-44F3-87CB-784CE9128B7E}"/>
              </a:ext>
            </a:extLst>
          </ns0:cNvPr>
          <ns0:cNvSpPr>
            <a:spLocks noGrp="1"/>
          </ns0:cNvSpPr>
          <ns0:nvPr/>
        </ns0:nvSpPr>
        <ns0:spPr>
          <a:xfrm>
            <a:off x="2333625" y="2019300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1:N 发起预约</a:t>
            </a:r>
          </a:p>
        </ns0:txBody>
      </ns0:sp>
      <ns0:sp>
        <ns0:nvSpPr>
          <ns0:cNvPr id="30" name="">
            <a:extLst>
              <a:ext uri="{FF2B5EF4-FFF2-40B4-BE49-F238E27FC236}">
                <ns2:creationId id="{CD1D3F7B-B821-4AF5-9F65-4612CFD314A4}"/>
              </a:ext>
            </a:extLst>
          </ns0:cNvPr>
          <ns0:cNvSpPr>
            <a:spLocks noGrp="1"/>
          </ns0:cNvSpPr>
          <ns0:nvPr/>
        </ns0:nvSpPr>
        <ns0:spPr>
          <a:xfrm>
            <a:off x="4752975" y="2076450"/>
            <a:ext cx="981075" cy="38100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1" name="">
            <a:extLst>
              <a:ext uri="{FF2B5EF4-FFF2-40B4-BE49-F238E27FC236}">
                <ns2:creationId id="{00855F73-E7B6-4C06-A73C-E35164B517C9}"/>
              </a:ext>
            </a:extLst>
          </ns0:cNvPr>
          <ns0:cNvSpPr>
            <a:spLocks noGrp="1"/>
          </ns0:cNvSpPr>
          <ns0:nvPr/>
        </ns0:nvSpPr>
        <ns0:spPr>
          <a:xfrm>
            <a:off x="4876800" y="21717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N:1 预订房间</a:t>
            </a:r>
          </a:p>
        </ns0:txBody>
      </ns0:sp>
      <ns0:sp>
        <ns0:nvSpPr>
          <ns0:cNvPr id="32" name="">
            <a:extLst>
              <a:ext uri="{FF2B5EF4-FFF2-40B4-BE49-F238E27FC236}">
                <ns2:creationId id="{42BA40D0-3148-4441-82BB-FD8C6B3F2810}"/>
              </a:ext>
            </a:extLst>
          </ns0:cNvPr>
          <ns0:cNvSpPr>
            <a:spLocks noGrp="1"/>
          </ns0:cNvSpPr>
          <ns0:nvPr/>
        </ns0:nvSpPr>
        <ns0:spPr>
          <a:xfrm>
            <a:off x="2238375" y="2428875"/>
            <a:ext cx="38100" cy="1190625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3" name="">
            <a:extLst>
              <a:ext uri="{FF2B5EF4-FFF2-40B4-BE49-F238E27FC236}">
                <ns2:creationId id="{51FEB18B-8CD7-41B7-A41E-4DDA47F5C263}"/>
              </a:ext>
            </a:extLst>
          </ns0:cNvPr>
          <ns0:cNvSpPr>
            <a:spLocks noGrp="1"/>
          </ns0:cNvSpPr>
          <ns0:nvPr/>
        </ns0:nvSpPr>
        <ns0:spPr>
          <a:xfrm>
            <a:off x="2305050" y="3105150"/>
            <a:ext cx="1000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1:N 办理入住</a:t>
            </a:r>
          </a:p>
        </ns0:txBody>
      </ns0:sp>
      <ns0:sp>
        <ns0:nvSpPr>
          <ns0:cNvPr id="34" name="">
            <a:extLst>
              <a:ext uri="{FF2B5EF4-FFF2-40B4-BE49-F238E27FC236}">
                <ns2:creationId id="{1EE29702-6CCA-4FCD-9814-F4DB2CB184AE}"/>
              </a:ext>
            </a:extLst>
          </ns0:cNvPr>
          <ns0:cNvSpPr>
            <a:spLocks noGrp="1"/>
          </ns0:cNvSpPr>
          <ns0:nvPr/>
        </ns0:nvSpPr>
        <ns0:spPr>
          <a:xfrm>
            <a:off x="4752975" y="3600450"/>
            <a:ext cx="981075" cy="38100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5" name="">
            <a:extLst>
              <a:ext uri="{FF2B5EF4-FFF2-40B4-BE49-F238E27FC236}">
                <ns2:creationId id="{A7989FD8-D9E9-4A18-BBE7-95F29436CC30}"/>
              </a:ext>
            </a:extLst>
          </ns0:cNvPr>
          <ns0:cNvSpPr>
            <a:spLocks noGrp="1"/>
          </ns0:cNvSpPr>
          <ns0:nvPr/>
        </ns0:nvSpPr>
        <ns0:spPr>
          <a:xfrm>
            <a:off x="5010150" y="33528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1:N 产生</a:t>
            </a:r>
          </a:p>
        </ns0:txBody>
      </ns0:sp>
      <ns0:sp>
        <ns0:nvSpPr>
          <ns0:cNvPr id="36" name="">
            <a:extLst>
              <a:ext uri="{FF2B5EF4-FFF2-40B4-BE49-F238E27FC236}">
                <ns2:creationId id="{EA14393B-9919-400A-A552-8050ECB79E35}"/>
              </a:ext>
            </a:extLst>
          </ns0:cNvPr>
          <ns0:cNvSpPr>
            <a:spLocks noGrp="1"/>
          </ns0:cNvSpPr>
          <ns0:nvPr/>
        </ns0:nvSpPr>
        <ns0:spPr>
          <a:xfrm>
            <a:off x="7400925" y="3600450"/>
            <a:ext cx="1076325" cy="38100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7" name="">
            <a:extLst>
              <a:ext uri="{FF2B5EF4-FFF2-40B4-BE49-F238E27FC236}">
                <ns2:creationId id="{32C71263-9977-4FA6-8EBB-E8DF8E696751}"/>
              </a:ext>
            </a:extLst>
          </ns0:cNvPr>
          <ns0:cNvSpPr>
            <a:spLocks noGrp="1"/>
          </ns0:cNvSpPr>
          <ns0:nvPr/>
        </ns0:nvSpPr>
        <ns0:spPr>
          <a:xfrm>
            <a:off x="7572375" y="33528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1:1 生成账单</a:t>
            </a:r>
          </a:p>
        </ns0:txBody>
      </ns0:sp>
      <ns0:sp>
        <ns0:nvSpPr>
          <ns0:cNvPr id="38" name="">
            <a:extLst>
              <a:ext uri="{FF2B5EF4-FFF2-40B4-BE49-F238E27FC236}">
                <ns2:creationId id="{043A6BBB-B307-4CE7-8116-584047F54A89}"/>
              </a:ext>
            </a:extLst>
          </ns0:cNvPr>
          <ns0:cNvSpPr>
            <a:spLocks noGrp="1"/>
          </ns0:cNvSpPr>
          <ns0:nvPr/>
        </ns0:nvSpPr>
        <ns0:spPr>
          <a:xfrm>
            <a:off x="9239250" y="2428875"/>
            <a:ext cx="38100" cy="2524125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9" name="">
            <a:extLst>
              <a:ext uri="{FF2B5EF4-FFF2-40B4-BE49-F238E27FC236}">
                <ns2:creationId id="{A8EA809F-64A2-4669-9D98-1438849293DD}"/>
              </a:ext>
            </a:extLst>
          </ns0:cNvPr>
          <ns0:cNvSpPr>
            <a:spLocks noGrp="1"/>
          </ns0:cNvSpPr>
          <ns0:nvPr/>
        </ns0:nvSpPr>
        <ns0:spPr>
          <a:xfrm>
            <a:off x="10191750" y="33909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1:N 记录</a:t>
            </a:r>
          </a:p>
        </ns0:txBody>
      </ns0:sp>
      <ns0:sp>
        <ns0:nvSpPr>
          <ns0:cNvPr id="40" name="">
            <a:extLst>
              <a:ext uri="{FF2B5EF4-FFF2-40B4-BE49-F238E27FC236}">
                <ns2:creationId id="{4F365D03-DC5E-4296-AE19-BCE1FF9F053E}"/>
              </a:ext>
            </a:extLst>
          </ns0:cNvPr>
          <ns0:cNvSpPr>
            <a:spLocks noGrp="1"/>
          </ns0:cNvSpPr>
          <ns0:nvPr/>
        </ns0:nvSpPr>
        <ns0:spPr>
          <a:xfrm>
            <a:off x="1381125" y="5810250"/>
            <a:ext cx="8191500" cy="28575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1" name="">
            <a:extLst>
              <a:ext uri="{FF2B5EF4-FFF2-40B4-BE49-F238E27FC236}">
                <ns2:creationId id="{41017E51-D832-46CC-B6DC-D44B77D2CE87}"/>
              </a:ext>
            </a:extLst>
          </ns0:cNvPr>
          <ns0:cNvSpPr>
            <a:spLocks noGrp="1"/>
          </ns0:cNvSpPr>
          <ns0:nvPr/>
        </ns0:nvSpPr>
        <ns0:spPr>
          <a:xfrm>
            <a:off x="1495425" y="5857875"/>
            <a:ext cx="796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设计原则：实体独立、关系清晰、状态字段受控、关键业务用单号追踪</a:t>
            </a:r>
          </a:p>
        </ns0:txBody>
      </ns0:sp>
    </ns0:spTree>
    <ns0:extLst>
      <ns0:ext uri="{BB962C8B-B14F-4D97-AF65-F5344CB8AC3E}">
        <ns3:creationId val="2112816652"/>
      </ns0:ext>
    </ns0:extLst>
  </ns0:cSld>
</ns0:sld>
</file>

<file path=ppt/slides/slide5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21C9B023-BC71-4693-838F-18007EC95979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FD31B47D-AA6E-463E-B455-45EE18E68F91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3BDDBD33-F03A-4000-B9C4-8F08460E9A6C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71450" cy="68580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FB88BEBB-63F4-4637-9354-CEF56AEB9DBD}"/>
              </a:ext>
            </a:extLst>
          </ns0:cNvPr>
          <ns0:cNvSpPr>
            <a:spLocks noGrp="1"/>
          </ns0:cNvSpPr>
          <ns0:nvPr/>
        </ns0:nvSpPr>
        <ns0:spPr>
          <a:xfrm>
            <a:off x="171450" y="0"/>
            <a:ext cx="47625" cy="68580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59E40E7A-0593-438A-B938-51CB7770293F}"/>
              </a:ext>
            </a:extLst>
          </ns0:cNvPr>
          <ns0:cNvSpPr>
            <a:spLocks noGrp="1"/>
          </ns0:cNvSpPr>
          <ns0:nvPr/>
        </ns0:nvSpPr>
        <ns0:spPr>
          <a:xfrm>
            <a:off x="9810750" y="0"/>
            <a:ext cx="2381250" cy="2381250"/>
          </a:xfrm>
          <a:prstGeom prst="ellipse">
            <a:avLst/>
          </a:prstGeom>
          <a:solidFill>
            <a:srgbClr val="F0D8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D79AD185-8F4B-46ED-8863-4A0EEB21B84F}"/>
              </a:ext>
            </a:extLst>
          </ns0:cNvPr>
          <ns0:cNvSpPr>
            <a:spLocks noGrp="1"/>
          </ns0:cNvSpPr>
          <ns0:nvPr/>
        </ns0:nvSpPr>
        <ns0:spPr>
          <a:xfrm>
            <a:off x="10191750" y="381000"/>
            <a:ext cx="1638300" cy="1638300"/>
          </a:xfrm>
          <a:prstGeom prst="ellipse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7" name="">
            <a:extLst>
              <a:ext uri="{FF2B5EF4-FFF2-40B4-BE49-F238E27FC236}">
                <ns2:creationId id="{0BAFCAF2-D60C-40FE-B795-84587AED721C}"/>
              </a:ext>
            </a:extLst>
          </ns0:cNvPr>
          <ns0:cNvSpPr>
            <a:spLocks noGrp="1"/>
          </ns0:cNvSpPr>
          <ns0:nvPr/>
        </ns0:nvSpPr>
        <ns0:spPr>
          <a:xfrm>
            <a:off x="6096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逻辑结构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B660CF67-FDB4-4ACC-AC13-3FAE9AF1E6D4}"/>
              </a:ext>
            </a:extLst>
          </ns0:cNvPr>
          <ns0:cNvSpPr>
            <a:spLocks noGrp="1"/>
          </ns0:cNvSpPr>
          <ns0:nvPr/>
        </ns0:nvSpPr>
        <ns0:spPr>
          <a:xfrm>
            <a:off x="609600" y="66675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8 张核心表形成从客房资源到结算报表的完整数据链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EC74C04D-E100-4177-9418-B8C823E69527}"/>
              </a:ext>
            </a:extLst>
          </ns0:cNvPr>
          <ns0:cNvSpPr>
            <a:spLocks noGrp="1"/>
          </ns0:cNvSpPr>
          <ns0:nvPr/>
        </ns0:nvSpPr>
        <ns0:spPr>
          <a:xfrm>
            <a:off x="609600" y="13906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每张业务表都有主键；关键业务对象使用唯一单号；跨表关系通过外键保证引用完整。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A10319EA-CB17-417F-A7EE-598AF0870A41}"/>
              </a:ext>
            </a:extLst>
          </ns0:cNvPr>
          <ns0:cNvSpPr>
            <a:spLocks noGrp="1"/>
          </ns0:cNvSpPr>
          <ns0:nvPr/>
        </ns0:nvSpPr>
        <ns0:spPr>
          <a:xfrm>
            <a:off x="609600" y="64960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rPr>
              <a:t>酒店客房管理系统 · 数据库与后端答辩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455ACE7F-818F-4ED7-9250-C207071CEECC}"/>
              </a:ext>
            </a:extLst>
          </ns0:cNvPr>
          <ns0:cNvSpPr>
            <a:spLocks noGrp="1"/>
          </ns0:cNvSpPr>
          <ns0:nvPr/>
        </ns0:nvSpPr>
        <ns0:spPr>
          <a:xfrm>
            <a:off x="11125200" y="64579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745174D8-5193-49AC-9179-932B57CBA6E9}"/>
              </a:ext>
            </a:extLst>
          </ns0:cNvPr>
          <ns0:cNvSpPr>
            <a:spLocks noGrp="1"/>
          </ns0:cNvSpPr>
          <ns0:nvPr/>
        </ns0:nvSpPr>
        <ns0:spPr>
          <a:xfrm>
            <a:off x="609600" y="1666875"/>
            <a:ext cx="11049000" cy="381000"/>
          </a:xfrm>
          <a:prstGeom prst="rect">
            <a:avLst/>
          </a:prstGeom>
          <a:solidFill>
            <a:srgbClr val="7E1F2F"/>
          </a:solidFill>
          <a:ln w="9525">
            <a:solidFill>
              <a:srgbClr val="7E1F2F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783716A2-CA11-4D01-953D-BE740A9706CC}"/>
              </a:ext>
            </a:extLst>
          </ns0:cNvPr>
          <ns0:cNvSpPr>
            <a:spLocks noGrp="1"/>
          </ns0:cNvSpPr>
          <ns0:nvPr/>
        </ns0:nvSpPr>
        <ns0:spPr>
          <a:xfrm>
            <a:off x="685800" y="1743075"/>
            <a:ext cx="1276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4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表名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B0D11390-D802-497B-A48B-539D34DF07E4}"/>
              </a:ext>
            </a:extLst>
          </ns0:cNvPr>
          <ns0:cNvSpPr>
            <a:spLocks noGrp="1"/>
          </ns0:cNvSpPr>
          <ns0:nvPr/>
        </ns0:nvSpPr>
        <ns0:spPr>
          <a:xfrm>
            <a:off x="2114550" y="1743075"/>
            <a:ext cx="137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94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主键/唯一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9652491A-C4F6-421A-8AD6-EC9EE7F23284}"/>
              </a:ext>
            </a:extLst>
          </ns0:cNvPr>
          <ns0:cNvSpPr>
            <a:spLocks noGrp="1"/>
          </ns0:cNvSpPr>
          <ns0:nvPr/>
        </ns0:nvSpPr>
        <ns0:spPr>
          <a:xfrm>
            <a:off x="3638550" y="1743075"/>
            <a:ext cx="2990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94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关键外键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B5CDD6D3-5CF4-4794-ADC6-9913D92671C3}"/>
              </a:ext>
            </a:extLst>
          </ns0:cNvPr>
          <ns0:cNvSpPr>
            <a:spLocks noGrp="1"/>
          </ns0:cNvSpPr>
          <ns0:nvPr/>
        </ns0:nvSpPr>
        <ns0:spPr>
          <a:xfrm>
            <a:off x="6781800" y="1743075"/>
            <a:ext cx="480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94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815077BA-F10F-464D-A522-BD1426C2A165}"/>
              </a:ext>
            </a:extLst>
          </ns0:cNvPr>
          <ns0:cNvSpPr>
            <a:spLocks noGrp="1"/>
          </ns0:cNvSpPr>
          <ns0:nvPr/>
        </ns0:nvSpPr>
        <ns0:spPr>
          <a:xfrm>
            <a:off x="609600" y="2047875"/>
            <a:ext cx="11049000" cy="3810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88D3F32D-80D2-478C-B30A-BDBF9FF783B5}"/>
              </a:ext>
            </a:extLst>
          </ns0:cNvPr>
          <ns0:cNvSpPr>
            <a:spLocks noGrp="1"/>
          </ns0:cNvSpPr>
          <ns0:nvPr/>
        </ns0:nvSpPr>
        <ns0:spPr>
          <a:xfrm>
            <a:off x="685800" y="2124075"/>
            <a:ext cx="1276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users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7E804C83-9571-472F-AB22-4694739CE181}"/>
              </a:ext>
            </a:extLst>
          </ns0:cNvPr>
          <ns0:cNvSpPr>
            <a:spLocks noGrp="1"/>
          </ns0:cNvSpPr>
          <ns0:nvPr/>
        </ns0:nvSpPr>
        <ns0:spPr>
          <a:xfrm>
            <a:off x="2114550" y="2124075"/>
            <a:ext cx="137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id / username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EF342BBB-707F-4CAF-BAEB-CA4403D9AD38}"/>
              </a:ext>
            </a:extLst>
          </ns0:cNvPr>
          <ns0:cNvSpPr>
            <a:spLocks noGrp="1"/>
          </ns0:cNvSpPr>
          <ns0:nvPr/>
        </ns0:nvSpPr>
        <ns0:spPr>
          <a:xfrm>
            <a:off x="3638550" y="2124075"/>
            <a:ext cx="2990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DCB68F90-AB89-4117-B99B-E7BA992C0F48}"/>
              </a:ext>
            </a:extLst>
          </ns0:cNvPr>
          <ns0:cNvSpPr>
            <a:spLocks noGrp="1"/>
          </ns0:cNvSpPr>
          <ns0:nvPr/>
        </ns0:nvSpPr>
        <ns0:spPr>
          <a:xfrm>
            <a:off x="6781800" y="2124075"/>
            <a:ext cx="480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系统登录用户与角色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67881A52-08AC-484A-B693-DBDE978B9103}"/>
              </a:ext>
            </a:extLst>
          </ns0:cNvPr>
          <ns0:cNvSpPr>
            <a:spLocks noGrp="1"/>
          </ns0:cNvSpPr>
          <ns0:nvPr/>
        </ns0:nvSpPr>
        <ns0:spPr>
          <a:xfrm>
            <a:off x="609600" y="2428875"/>
            <a:ext cx="11049000" cy="381000"/>
          </a:xfrm>
          <a:prstGeom prst="rect">
            <a:avLst/>
          </a:prstGeom>
          <a:solidFill>
            <a:srgbClr val="F2ECE4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41C1C354-6F9E-47ED-AAD1-354F3BF05647}"/>
              </a:ext>
            </a:extLst>
          </ns0:cNvPr>
          <ns0:cNvSpPr>
            <a:spLocks noGrp="1"/>
          </ns0:cNvSpPr>
          <ns0:nvPr/>
        </ns0:nvSpPr>
        <ns0:spPr>
          <a:xfrm>
            <a:off x="685800" y="2505075"/>
            <a:ext cx="1276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rooms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FAC1531C-1284-400F-8E3E-7EEC8D8E20B4}"/>
              </a:ext>
            </a:extLst>
          </ns0:cNvPr>
          <ns0:cNvSpPr>
            <a:spLocks noGrp="1"/>
          </ns0:cNvSpPr>
          <ns0:nvPr/>
        </ns0:nvSpPr>
        <ns0:spPr>
          <a:xfrm>
            <a:off x="2114550" y="2505075"/>
            <a:ext cx="137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id / room_number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6715D115-65E0-43A9-81B0-9D09B9F25EC9}"/>
              </a:ext>
            </a:extLst>
          </ns0:cNvPr>
          <ns0:cNvSpPr>
            <a:spLocks noGrp="1"/>
          </ns0:cNvSpPr>
          <ns0:nvPr/>
        </ns0:nvSpPr>
        <ns0:spPr>
          <a:xfrm>
            <a:off x="3638550" y="2505075"/>
            <a:ext cx="2990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E3C423FC-7632-4B76-AB0C-B3FC5637C479}"/>
              </a:ext>
            </a:extLst>
          </ns0:cNvPr>
          <ns0:cNvSpPr>
            <a:spLocks noGrp="1"/>
          </ns0:cNvSpPr>
          <ns0:nvPr/>
        </ns0:nvSpPr>
        <ns0:spPr>
          <a:xfrm>
            <a:off x="6781800" y="2505075"/>
            <a:ext cx="480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房号、房型、价格、房态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DE8604A8-B7E6-43F4-AC08-EBF67200F5A1}"/>
              </a:ext>
            </a:extLst>
          </ns0:cNvPr>
          <ns0:cNvSpPr>
            <a:spLocks noGrp="1"/>
          </ns0:cNvSpPr>
          <ns0:nvPr/>
        </ns0:nvSpPr>
        <ns0:spPr>
          <a:xfrm>
            <a:off x="609600" y="2809875"/>
            <a:ext cx="11049000" cy="3810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8" name="">
            <a:extLst>
              <a:ext uri="{FF2B5EF4-FFF2-40B4-BE49-F238E27FC236}">
                <ns2:creationId id="{B1D01AD4-98F5-4996-B673-D728C7AAC384}"/>
              </a:ext>
            </a:extLst>
          </ns0:cNvPr>
          <ns0:cNvSpPr>
            <a:spLocks noGrp="1"/>
          </ns0:cNvSpPr>
          <ns0:nvPr/>
        </ns0:nvSpPr>
        <ns0:spPr>
          <a:xfrm>
            <a:off x="685800" y="2886075"/>
            <a:ext cx="1276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customers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56EA3FF8-D683-435E-9EBE-52D931F2861D}"/>
              </a:ext>
            </a:extLst>
          </ns0:cNvPr>
          <ns0:cNvSpPr>
            <a:spLocks noGrp="1"/>
          </ns0:cNvSpPr>
          <ns0:nvPr/>
        </ns0:nvSpPr>
        <ns0:spPr>
          <a:xfrm>
            <a:off x="2114550" y="2886075"/>
            <a:ext cx="137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id / id_card</a:t>
            </a:r>
          </a:p>
        </ns0:txBody>
      </ns0:sp>
      <ns0:sp>
        <ns0:nvSpPr>
          <ns0:cNvPr id="30" name="">
            <a:extLst>
              <a:ext uri="{FF2B5EF4-FFF2-40B4-BE49-F238E27FC236}">
                <ns2:creationId id="{B2D6E064-D199-475A-AFEA-16B8F55CFE25}"/>
              </a:ext>
            </a:extLst>
          </ns0:cNvPr>
          <ns0:cNvSpPr>
            <a:spLocks noGrp="1"/>
          </ns0:cNvSpPr>
          <ns0:nvPr/>
        </ns0:nvSpPr>
        <ns0:spPr>
          <a:xfrm>
            <a:off x="3638550" y="2886075"/>
            <a:ext cx="2990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-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B6C5519A-BA4B-4D39-BB1F-9AF06FA82802}"/>
              </a:ext>
            </a:extLst>
          </ns0:cNvPr>
          <ns0:cNvSpPr>
            <a:spLocks noGrp="1"/>
          </ns0:cNvSpPr>
          <ns0:nvPr/>
        </ns0:nvSpPr>
        <ns0:spPr>
          <a:xfrm>
            <a:off x="6781800" y="2886075"/>
            <a:ext cx="480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客户档案，身份证唯一</a:t>
            </a:r>
          </a:p>
        </ns0:txBody>
      </ns0:sp>
      <ns0:sp>
        <ns0:nvSpPr>
          <ns0:cNvPr id="32" name="">
            <a:extLst>
              <a:ext uri="{FF2B5EF4-FFF2-40B4-BE49-F238E27FC236}">
                <ns2:creationId id="{85C7D6D6-64B9-4D64-AB25-9C2FD6A5466E}"/>
              </a:ext>
            </a:extLst>
          </ns0:cNvPr>
          <ns0:cNvSpPr>
            <a:spLocks noGrp="1"/>
          </ns0:cNvSpPr>
          <ns0:nvPr/>
        </ns0:nvSpPr>
        <ns0:spPr>
          <a:xfrm>
            <a:off x="609600" y="3190875"/>
            <a:ext cx="11049000" cy="381000"/>
          </a:xfrm>
          <a:prstGeom prst="rect">
            <a:avLst/>
          </a:prstGeom>
          <a:solidFill>
            <a:srgbClr val="F2ECE4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33" name="">
            <a:extLst>
              <a:ext uri="{FF2B5EF4-FFF2-40B4-BE49-F238E27FC236}">
                <ns2:creationId id="{043AF21F-2A7D-47EC-BF5D-E29249F9301D}"/>
              </a:ext>
            </a:extLst>
          </ns0:cNvPr>
          <ns0:cNvSpPr>
            <a:spLocks noGrp="1"/>
          </ns0:cNvSpPr>
          <ns0:nvPr/>
        </ns0:nvSpPr>
        <ns0:spPr>
          <a:xfrm>
            <a:off x="685800" y="3267075"/>
            <a:ext cx="1276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reservations</a:t>
            </a:r>
          </a:p>
        </ns0:txBody>
      </ns0:sp>
      <ns0:sp>
        <ns0:nvSpPr>
          <ns0:cNvPr id="34" name="">
            <a:extLst>
              <a:ext uri="{FF2B5EF4-FFF2-40B4-BE49-F238E27FC236}">
                <ns2:creationId id="{BC3DBB95-4ABB-4D84-BBEE-83BDE696F0E8}"/>
              </a:ext>
            </a:extLst>
          </ns0:cNvPr>
          <ns0:cNvSpPr>
            <a:spLocks noGrp="1"/>
          </ns0:cNvSpPr>
          <ns0:nvPr/>
        </ns0:nvSpPr>
        <ns0:spPr>
          <a:xfrm>
            <a:off x="2114550" y="3267075"/>
            <a:ext cx="137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id / reservation_no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8F41122C-D079-4A34-9339-E2F4F2BDC3C1}"/>
              </a:ext>
            </a:extLst>
          </ns0:cNvPr>
          <ns0:cNvSpPr>
            <a:spLocks noGrp="1"/>
          </ns0:cNvSpPr>
          <ns0:nvPr/>
        </ns0:nvSpPr>
        <ns0:spPr>
          <a:xfrm>
            <a:off x="3638550" y="3267075"/>
            <a:ext cx="2990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customer_id, room_id, created_by</a:t>
            </a:r>
          </a:p>
        </ns0:txBody>
      </ns0:sp>
      <ns0:sp>
        <ns0:nvSpPr>
          <ns0:cNvPr id="36" name="">
            <a:extLst>
              <a:ext uri="{FF2B5EF4-FFF2-40B4-BE49-F238E27FC236}">
                <ns2:creationId id="{CA9F2D52-7834-4CE8-B7C3-5051FD48D20B}"/>
              </a:ext>
            </a:extLst>
          </ns0:cNvPr>
          <ns0:cNvSpPr>
            <a:spLocks noGrp="1"/>
          </ns0:cNvSpPr>
          <ns0:nvPr/>
        </ns0:nvSpPr>
        <ns0:spPr>
          <a:xfrm>
            <a:off x="6781800" y="3267075"/>
            <a:ext cx="480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预约记录与日期区间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DC2D3EB2-5425-4008-ACC7-089CC223646E}"/>
              </a:ext>
            </a:extLst>
          </ns0:cNvPr>
          <ns0:cNvSpPr>
            <a:spLocks noGrp="1"/>
          </ns0:cNvSpPr>
          <ns0:nvPr/>
        </ns0:nvSpPr>
        <ns0:spPr>
          <a:xfrm>
            <a:off x="609600" y="3571875"/>
            <a:ext cx="11049000" cy="3810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38" name="">
            <a:extLst>
              <a:ext uri="{FF2B5EF4-FFF2-40B4-BE49-F238E27FC236}">
                <ns2:creationId id="{75F541BD-4BD1-459D-8B43-97B8FA7FAE7A}"/>
              </a:ext>
            </a:extLst>
          </ns0:cNvPr>
          <ns0:cNvSpPr>
            <a:spLocks noGrp="1"/>
          </ns0:cNvSpPr>
          <ns0:nvPr/>
        </ns0:nvSpPr>
        <ns0:spPr>
          <a:xfrm>
            <a:off x="685800" y="3648075"/>
            <a:ext cx="1276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stays</a:t>
            </a:r>
          </a:p>
        </ns0:txBody>
      </ns0:sp>
      <ns0:sp>
        <ns0:nvSpPr>
          <ns0:cNvPr id="39" name="">
            <a:extLst>
              <a:ext uri="{FF2B5EF4-FFF2-40B4-BE49-F238E27FC236}">
                <ns2:creationId id="{74C52FA8-38D0-4BF1-B1B3-02E353D59515}"/>
              </a:ext>
            </a:extLst>
          </ns0:cNvPr>
          <ns0:cNvSpPr>
            <a:spLocks noGrp="1"/>
          </ns0:cNvSpPr>
          <ns0:nvPr/>
        </ns0:nvSpPr>
        <ns0:spPr>
          <a:xfrm>
            <a:off x="2114550" y="3648075"/>
            <a:ext cx="137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id / stay_no</a:t>
            </a:r>
          </a:p>
        </ns0:txBody>
      </ns0:sp>
      <ns0:sp>
        <ns0:nvSpPr>
          <ns0:cNvPr id="40" name="">
            <a:extLst>
              <a:ext uri="{FF2B5EF4-FFF2-40B4-BE49-F238E27FC236}">
                <ns2:creationId id="{B7923033-16C5-4814-841A-C222D0461994}"/>
              </a:ext>
            </a:extLst>
          </ns0:cNvPr>
          <ns0:cNvSpPr>
            <a:spLocks noGrp="1"/>
          </ns0:cNvSpPr>
          <ns0:nvPr/>
        </ns0:nvSpPr>
        <ns0:spPr>
          <a:xfrm>
            <a:off x="3638550" y="3648075"/>
            <a:ext cx="2990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reservation_id, customer_id, room_id</a:t>
            </a:r>
          </a:p>
        </ns0:txBody>
      </ns0:sp>
      <ns0:sp>
        <ns0:nvSpPr>
          <ns0:cNvPr id="41" name="">
            <a:extLst>
              <a:ext uri="{FF2B5EF4-FFF2-40B4-BE49-F238E27FC236}">
                <ns2:creationId id="{11D2A319-C824-402C-A670-D6DD61086D67}"/>
              </a:ext>
            </a:extLst>
          </ns0:cNvPr>
          <ns0:cNvSpPr>
            <a:spLocks noGrp="1"/>
          </ns0:cNvSpPr>
          <ns0:nvPr/>
        </ns0:nvSpPr>
        <ns0:spPr>
          <a:xfrm>
            <a:off x="6781800" y="3648075"/>
            <a:ext cx="480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入住单，连接预约和房间</a:t>
            </a:r>
          </a:p>
        </ns0:txBody>
      </ns0:sp>
      <ns0:sp>
        <ns0:nvSpPr>
          <ns0:cNvPr id="42" name="">
            <a:extLst>
              <a:ext uri="{FF2B5EF4-FFF2-40B4-BE49-F238E27FC236}">
                <ns2:creationId id="{FBEA56FB-FBEC-451B-A7AE-9B16A5D2B3B5}"/>
              </a:ext>
            </a:extLst>
          </ns0:cNvPr>
          <ns0:cNvSpPr>
            <a:spLocks noGrp="1"/>
          </ns0:cNvSpPr>
          <ns0:nvPr/>
        </ns0:nvSpPr>
        <ns0:spPr>
          <a:xfrm>
            <a:off x="609600" y="3952875"/>
            <a:ext cx="11049000" cy="381000"/>
          </a:xfrm>
          <a:prstGeom prst="rect">
            <a:avLst/>
          </a:prstGeom>
          <a:solidFill>
            <a:srgbClr val="F2ECE4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43" name="">
            <a:extLst>
              <a:ext uri="{FF2B5EF4-FFF2-40B4-BE49-F238E27FC236}">
                <ns2:creationId id="{F914899B-C302-4802-B270-ACBE0C36C087}"/>
              </a:ext>
            </a:extLst>
          </ns0:cNvPr>
          <ns0:cNvSpPr>
            <a:spLocks noGrp="1"/>
          </ns0:cNvSpPr>
          <ns0:nvPr/>
        </ns0:nvSpPr>
        <ns0:spPr>
          <a:xfrm>
            <a:off x="685800" y="4029075"/>
            <a:ext cx="1276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extra_charges</a:t>
            </a:r>
          </a:p>
        </ns0:txBody>
      </ns0:sp>
      <ns0:sp>
        <ns0:nvSpPr>
          <ns0:cNvPr id="44" name="">
            <a:extLst>
              <a:ext uri="{FF2B5EF4-FFF2-40B4-BE49-F238E27FC236}">
                <ns2:creationId id="{776C4D9D-111A-42A4-B0A2-3450F8B026C8}"/>
              </a:ext>
            </a:extLst>
          </ns0:cNvPr>
          <ns0:cNvSpPr>
            <a:spLocks noGrp="1"/>
          </ns0:cNvSpPr>
          <ns0:nvPr/>
        </ns0:nvSpPr>
        <ns0:spPr>
          <a:xfrm>
            <a:off x="2114550" y="4029075"/>
            <a:ext cx="137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id</a:t>
            </a:r>
          </a:p>
        </ns0:txBody>
      </ns0:sp>
      <ns0:sp>
        <ns0:nvSpPr>
          <ns0:cNvPr id="45" name="">
            <a:extLst>
              <a:ext uri="{FF2B5EF4-FFF2-40B4-BE49-F238E27FC236}">
                <ns2:creationId id="{F1940CD4-E227-4013-B205-76A5F13F533B}"/>
              </a:ext>
            </a:extLst>
          </ns0:cNvPr>
          <ns0:cNvSpPr>
            <a:spLocks noGrp="1"/>
          </ns0:cNvSpPr>
          <ns0:nvPr/>
        </ns0:nvSpPr>
        <ns0:spPr>
          <a:xfrm>
            <a:off x="3638550" y="4029075"/>
            <a:ext cx="2990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stay_id, created_by</a:t>
            </a:r>
          </a:p>
        </ns0:txBody>
      </ns0:sp>
      <ns0:sp>
        <ns0:nvSpPr>
          <ns0:cNvPr id="46" name="">
            <a:extLst>
              <a:ext uri="{FF2B5EF4-FFF2-40B4-BE49-F238E27FC236}">
                <ns2:creationId id="{3B473FE0-416A-430B-8779-C0AB72279372}"/>
              </a:ext>
            </a:extLst>
          </ns0:cNvPr>
          <ns0:cNvSpPr>
            <a:spLocks noGrp="1"/>
          </ns0:cNvSpPr>
          <ns0:nvPr/>
        </ns0:nvSpPr>
        <ns0:spPr>
          <a:xfrm>
            <a:off x="6781800" y="4029075"/>
            <a:ext cx="480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餐饮、洗衣等额外消费</a:t>
            </a:r>
          </a:p>
        </ns0:txBody>
      </ns0:sp>
      <ns0:sp>
        <ns0:nvSpPr>
          <ns0:cNvPr id="47" name="">
            <a:extLst>
              <a:ext uri="{FF2B5EF4-FFF2-40B4-BE49-F238E27FC236}">
                <ns2:creationId id="{2D33A412-B7F1-4DE9-A31B-25921DC0D2D5}"/>
              </a:ext>
            </a:extLst>
          </ns0:cNvPr>
          <ns0:cNvSpPr>
            <a:spLocks noGrp="1"/>
          </ns0:cNvSpPr>
          <ns0:nvPr/>
        </ns0:nvSpPr>
        <ns0:spPr>
          <a:xfrm>
            <a:off x="609600" y="4333875"/>
            <a:ext cx="11049000" cy="3810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48" name="">
            <a:extLst>
              <a:ext uri="{FF2B5EF4-FFF2-40B4-BE49-F238E27FC236}">
                <ns2:creationId id="{F5A77E61-4CD4-49FD-8C16-6DC86C7BB117}"/>
              </a:ext>
            </a:extLst>
          </ns0:cNvPr>
          <ns0:cNvSpPr>
            <a:spLocks noGrp="1"/>
          </ns0:cNvSpPr>
          <ns0:nvPr/>
        </ns0:nvSpPr>
        <ns0:spPr>
          <a:xfrm>
            <a:off x="685800" y="4410075"/>
            <a:ext cx="1276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settlements</a:t>
            </a:r>
          </a:p>
        </ns0:txBody>
      </ns0:sp>
      <ns0:sp>
        <ns0:nvSpPr>
          <ns0:cNvPr id="49" name="">
            <a:extLst>
              <a:ext uri="{FF2B5EF4-FFF2-40B4-BE49-F238E27FC236}">
                <ns2:creationId id="{6C3A379D-2621-49D8-AABE-DBAB28D118B5}"/>
              </a:ext>
            </a:extLst>
          </ns0:cNvPr>
          <ns0:cNvSpPr>
            <a:spLocks noGrp="1"/>
          </ns0:cNvSpPr>
          <ns0:nvPr/>
        </ns0:nvSpPr>
        <ns0:spPr>
          <a:xfrm>
            <a:off x="2114550" y="4410075"/>
            <a:ext cx="137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id / bill_no</a:t>
            </a:r>
          </a:p>
        </ns0:txBody>
      </ns0:sp>
      <ns0:sp>
        <ns0:nvSpPr>
          <ns0:cNvPr id="50" name="">
            <a:extLst>
              <a:ext uri="{FF2B5EF4-FFF2-40B4-BE49-F238E27FC236}">
                <ns2:creationId id="{8D335FF0-54F1-4FF0-87B4-39A0501609B7}"/>
              </a:ext>
            </a:extLst>
          </ns0:cNvPr>
          <ns0:cNvSpPr>
            <a:spLocks noGrp="1"/>
          </ns0:cNvSpPr>
          <ns0:nvPr/>
        </ns0:nvSpPr>
        <ns0:spPr>
          <a:xfrm>
            <a:off x="3638550" y="4410075"/>
            <a:ext cx="2990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stay_id, created_by</a:t>
            </a:r>
          </a:p>
        </ns0:txBody>
      </ns0:sp>
      <ns0:sp>
        <ns0:nvSpPr>
          <ns0:cNvPr id="51" name="">
            <a:extLst>
              <a:ext uri="{FF2B5EF4-FFF2-40B4-BE49-F238E27FC236}">
                <ns2:creationId id="{2066B008-EDBD-4948-A80A-B7A71DB159AD}"/>
              </a:ext>
            </a:extLst>
          </ns0:cNvPr>
          <ns0:cNvSpPr>
            <a:spLocks noGrp="1"/>
          </ns0:cNvSpPr>
          <ns0:nvPr/>
        </ns0:nvSpPr>
        <ns0:spPr>
          <a:xfrm>
            <a:off x="6781800" y="4410075"/>
            <a:ext cx="480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退房结算单，一次入住一张账单</a:t>
            </a:r>
          </a:p>
        </ns0:txBody>
      </ns0:sp>
      <ns0:sp>
        <ns0:nvSpPr>
          <ns0:cNvPr id="52" name="">
            <a:extLst>
              <a:ext uri="{FF2B5EF4-FFF2-40B4-BE49-F238E27FC236}">
                <ns2:creationId id="{67F1D815-CF39-46BE-AA60-1AEF56F92248}"/>
              </a:ext>
            </a:extLst>
          </ns0:cNvPr>
          <ns0:cNvSpPr>
            <a:spLocks noGrp="1"/>
          </ns0:cNvSpPr>
          <ns0:nvPr/>
        </ns0:nvSpPr>
        <ns0:spPr>
          <a:xfrm>
            <a:off x="609600" y="4714875"/>
            <a:ext cx="11049000" cy="381000"/>
          </a:xfrm>
          <a:prstGeom prst="rect">
            <a:avLst/>
          </a:prstGeom>
          <a:solidFill>
            <a:srgbClr val="F2ECE4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53" name="">
            <a:extLst>
              <a:ext uri="{FF2B5EF4-FFF2-40B4-BE49-F238E27FC236}">
                <ns2:creationId id="{9F09336A-E789-4822-9473-5280B9772112}"/>
              </a:ext>
            </a:extLst>
          </ns0:cNvPr>
          <ns0:cNvSpPr>
            <a:spLocks noGrp="1"/>
          </ns0:cNvSpPr>
          <ns0:nvPr/>
        </ns0:nvSpPr>
        <ns0:spPr>
          <a:xfrm>
            <a:off x="685800" y="4791075"/>
            <a:ext cx="1276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audit_logs</a:t>
            </a:r>
          </a:p>
        </ns0:txBody>
      </ns0:sp>
      <ns0:sp>
        <ns0:nvSpPr>
          <ns0:cNvPr id="54" name="">
            <a:extLst>
              <a:ext uri="{FF2B5EF4-FFF2-40B4-BE49-F238E27FC236}">
                <ns2:creationId id="{E5CB34CF-0AD6-4D78-973A-DDFF6125713E}"/>
              </a:ext>
            </a:extLst>
          </ns0:cNvPr>
          <ns0:cNvSpPr>
            <a:spLocks noGrp="1"/>
          </ns0:cNvSpPr>
          <ns0:nvPr/>
        </ns0:nvSpPr>
        <ns0:spPr>
          <a:xfrm>
            <a:off x="2114550" y="4791075"/>
            <a:ext cx="137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id</a:t>
            </a:r>
          </a:p>
        </ns0:txBody>
      </ns0:sp>
      <ns0:sp>
        <ns0:nvSpPr>
          <ns0:cNvPr id="55" name="">
            <a:extLst>
              <a:ext uri="{FF2B5EF4-FFF2-40B4-BE49-F238E27FC236}">
                <ns2:creationId id="{49290C14-A676-472F-BFCB-CF3364167ED1}"/>
              </a:ext>
            </a:extLst>
          </ns0:cNvPr>
          <ns0:cNvSpPr>
            <a:spLocks noGrp="1"/>
          </ns0:cNvSpPr>
          <ns0:nvPr/>
        </ns0:nvSpPr>
        <ns0:spPr>
          <a:xfrm>
            <a:off x="3638550" y="4791075"/>
            <a:ext cx="2990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actor_id</a:t>
            </a:r>
          </a:p>
        </ns0:txBody>
      </ns0:sp>
      <ns0:sp>
        <ns0:nvSpPr>
          <ns0:cNvPr id="56" name="">
            <a:extLst>
              <a:ext uri="{FF2B5EF4-FFF2-40B4-BE49-F238E27FC236}">
                <ns2:creationId id="{2394B917-7F5C-487A-9B7B-E5F72CF12A03}"/>
              </a:ext>
            </a:extLst>
          </ns0:cNvPr>
          <ns0:cNvSpPr>
            <a:spLocks noGrp="1"/>
          </ns0:cNvSpPr>
          <ns0:nvPr/>
        </ns0:nvSpPr>
        <ns0:spPr>
          <a:xfrm>
            <a:off x="6781800" y="4791075"/>
            <a:ext cx="480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操作留痕，便于答辩说明安全性</a:t>
            </a:r>
          </a:p>
        </ns0:txBody>
      </ns0:sp>
      <ns0:sp>
        <ns0:nvSpPr>
          <ns0:cNvPr id="57" name="">
            <a:extLst>
              <a:ext uri="{FF2B5EF4-FFF2-40B4-BE49-F238E27FC236}">
                <ns2:creationId id="{A31021BD-9F42-489E-BF45-112082BBB459}"/>
              </a:ext>
            </a:extLst>
          </ns0:cNvPr>
          <ns0:cNvSpPr>
            <a:spLocks noGrp="1"/>
          </ns0:cNvSpPr>
          <ns0:nvPr/>
        </ns0:nvSpPr>
        <ns0:spPr>
          <a:xfrm>
            <a:off x="609600" y="5191125"/>
            <a:ext cx="3257550" cy="8001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58" name="">
            <a:extLst>
              <a:ext uri="{FF2B5EF4-FFF2-40B4-BE49-F238E27FC236}">
                <ns2:creationId id="{2F0EF542-6B22-4BAA-991E-6702352048C9}"/>
              </a:ext>
            </a:extLst>
          </ns0:cNvPr>
          <ns0:cNvSpPr>
            <a:spLocks noGrp="1"/>
          </ns0:cNvSpPr>
          <ns0:nvPr/>
        </ns0:nvSpPr>
        <ns0:spPr>
          <a:xfrm>
            <a:off x="609600" y="5191125"/>
            <a:ext cx="57150" cy="8001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59" name="">
            <a:extLst>
              <a:ext uri="{FF2B5EF4-FFF2-40B4-BE49-F238E27FC236}">
                <ns2:creationId id="{3F8EF971-37B5-4B3C-BC04-B8A399D05B3E}"/>
              </a:ext>
            </a:extLst>
          </ns0:cNvPr>
          <ns0:cNvSpPr>
            <a:spLocks noGrp="1"/>
          </ns0:cNvSpPr>
          <ns0:nvPr/>
        </ns0:nvSpPr>
        <ns0:spPr>
          <a:xfrm>
            <a:off x="819150" y="5362575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三范式说明</a:t>
            </a:r>
          </a:p>
        </ns0:txBody>
      </ns0:sp>
      <ns0:sp>
        <ns0:nvSpPr>
          <ns0:cNvPr id="60" name="">
            <a:extLst>
              <a:ext uri="{FF2B5EF4-FFF2-40B4-BE49-F238E27FC236}">
                <ns2:creationId id="{0CA0B907-23B7-41CB-A23E-3F1C0C409578}"/>
              </a:ext>
            </a:extLst>
          </ns0:cNvPr>
          <ns0:cNvSpPr>
            <a:spLocks noGrp="1"/>
          </ns0:cNvSpPr>
          <ns0:nvPr/>
        </ns0:nvSpPr>
        <ns0:spPr>
          <a:xfrm>
            <a:off x="819150" y="57150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字段保持原子性；非主属性依赖整张表主键；房型、客户、消费、结算拆表，避免重复和传递依赖。</a:t>
            </a:r>
          </a:p>
        </ns0:txBody>
      </ns0:sp>
      <ns0:sp>
        <ns0:nvSpPr>
          <ns0:cNvPr id="61" name="">
            <a:extLst>
              <a:ext uri="{FF2B5EF4-FFF2-40B4-BE49-F238E27FC236}">
                <ns2:creationId id="{F810DD23-59A7-4B35-BC27-6CB89CC65C31}"/>
              </a:ext>
            </a:extLst>
          </ns0:cNvPr>
          <ns0:cNvSpPr>
            <a:spLocks noGrp="1"/>
          </ns0:cNvSpPr>
          <ns0:nvPr/>
        </ns0:nvSpPr>
        <ns0:spPr>
          <a:xfrm>
            <a:off x="4095750" y="5191125"/>
            <a:ext cx="3257550" cy="8001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62" name="">
            <a:extLst>
              <a:ext uri="{FF2B5EF4-FFF2-40B4-BE49-F238E27FC236}">
                <ns2:creationId id="{FD9CDF5A-1018-4641-A8A5-30DD9F5FA0E5}"/>
              </a:ext>
            </a:extLst>
          </ns0:cNvPr>
          <ns0:cNvSpPr>
            <a:spLocks noGrp="1"/>
          </ns0:cNvSpPr>
          <ns0:nvPr/>
        </ns0:nvSpPr>
        <ns0:spPr>
          <a:xfrm>
            <a:off x="4095750" y="5191125"/>
            <a:ext cx="57150" cy="800100"/>
          </a:xfrm>
          <a:prstGeom prst="rect">
            <a:avLst/>
          </a:prstGeom>
          <a:solidFill>
            <a:srgbClr val="1E6B6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3" name="">
            <a:extLst>
              <a:ext uri="{FF2B5EF4-FFF2-40B4-BE49-F238E27FC236}">
                <ns2:creationId id="{CD62882F-BC98-405E-A5D8-22A1562C5B38}"/>
              </a:ext>
            </a:extLst>
          </ns0:cNvPr>
          <ns0:cNvSpPr>
            <a:spLocks noGrp="1"/>
          </ns0:cNvSpPr>
          <ns0:nvPr/>
        </ns0:nvSpPr>
        <ns0:spPr>
          <a:xfrm>
            <a:off x="4305300" y="5362575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主外键分析</a:t>
            </a:r>
          </a:p>
        </ns0:txBody>
      </ns0:sp>
      <ns0:sp>
        <ns0:nvSpPr>
          <ns0:cNvPr id="64" name="">
            <a:extLst>
              <a:ext uri="{FF2B5EF4-FFF2-40B4-BE49-F238E27FC236}">
                <ns2:creationId id="{11008015-7C05-47F1-9E25-E8EFE456D6C1}"/>
              </a:ext>
            </a:extLst>
          </ns0:cNvPr>
          <ns0:cNvSpPr>
            <a:spLocks noGrp="1"/>
          </ns0:cNvSpPr>
          <ns0:nvPr/>
        </ns0:nvSpPr>
        <ns0:spPr>
          <a:xfrm>
            <a:off x="4305300" y="57150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预约/入住同时关联客户和房间；消费、结算依赖入住单；审计日志关联操作用户。</a:t>
            </a:r>
          </a:p>
        </ns0:txBody>
      </ns0:sp>
      <ns0:sp>
        <ns0:nvSpPr>
          <ns0:cNvPr id="65" name="">
            <a:extLst>
              <a:ext uri="{FF2B5EF4-FFF2-40B4-BE49-F238E27FC236}">
                <ns2:creationId id="{35FFB554-5BDB-4A4F-97CC-18C9B28CC1A5}"/>
              </a:ext>
            </a:extLst>
          </ns0:cNvPr>
          <ns0:cNvSpPr>
            <a:spLocks noGrp="1"/>
          </ns0:cNvSpPr>
          <ns0:nvPr/>
        </ns0:nvSpPr>
        <ns0:spPr>
          <a:xfrm>
            <a:off x="7581900" y="5191125"/>
            <a:ext cx="3257550" cy="8001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66" name="">
            <a:extLst>
              <a:ext uri="{FF2B5EF4-FFF2-40B4-BE49-F238E27FC236}">
                <ns2:creationId id="{78D5410C-380A-4F3F-BD05-F422A6DA841B}"/>
              </a:ext>
            </a:extLst>
          </ns0:cNvPr>
          <ns0:cNvSpPr>
            <a:spLocks noGrp="1"/>
          </ns0:cNvSpPr>
          <ns0:nvPr/>
        </ns0:nvSpPr>
        <ns0:spPr>
          <a:xfrm>
            <a:off x="7581900" y="5191125"/>
            <a:ext cx="57150" cy="8001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7" name="">
            <a:extLst>
              <a:ext uri="{FF2B5EF4-FFF2-40B4-BE49-F238E27FC236}">
                <ns2:creationId id="{A4F66E8C-FAC7-4F86-8570-C8A256CAA355}"/>
              </a:ext>
            </a:extLst>
          </ns0:cNvPr>
          <ns0:cNvSpPr>
            <a:spLocks noGrp="1"/>
          </ns0:cNvSpPr>
          <ns0:nvPr/>
        </ns0:nvSpPr>
        <ns0:spPr>
          <a:xfrm>
            <a:off x="7791450" y="5362575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可扩展性</a:t>
            </a:r>
          </a:p>
        </ns0:txBody>
      </ns0:sp>
      <ns0:sp>
        <ns0:nvSpPr>
          <ns0:cNvPr id="68" name="">
            <a:extLst>
              <a:ext uri="{FF2B5EF4-FFF2-40B4-BE49-F238E27FC236}">
                <ns2:creationId id="{1B932ACD-299E-4223-9619-592C4573F06B}"/>
              </a:ext>
            </a:extLst>
          </ns0:cNvPr>
          <ns0:cNvSpPr>
            <a:spLocks noGrp="1"/>
          </ns0:cNvSpPr>
          <ns0:nvPr/>
        </ns0:nvSpPr>
        <ns0:spPr>
          <a:xfrm>
            <a:off x="7791450" y="57150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后续可独立扩展会员等级、房型字典、发票、支付流水，不破坏主业务表。</a:t>
            </a:r>
          </a:p>
        </ns0:txBody>
      </ns0:sp>
    </ns0:spTree>
    <ns0:extLst>
      <ns0:ext uri="{BB962C8B-B14F-4D97-AF65-F5344CB8AC3E}">
        <ns3:creationId val="1357563297"/>
      </ns0:ext>
    </ns0:extLst>
  </ns0:cSld>
</ns0:sld>
</file>

<file path=ppt/slides/slide6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22108F2C-0428-49B5-969B-DD2C74336B62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B27FAEEB-A1D2-43F3-88B4-4B6C8309CCCD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F271A37C-2532-4AF2-B3C8-44D3486E5CA0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71450" cy="68580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92182451-3DCE-4DDD-A7F5-48CCAC848D5D}"/>
              </a:ext>
            </a:extLst>
          </ns0:cNvPr>
          <ns0:cNvSpPr>
            <a:spLocks noGrp="1"/>
          </ns0:cNvSpPr>
          <ns0:nvPr/>
        </ns0:nvSpPr>
        <ns0:spPr>
          <a:xfrm>
            <a:off x="171450" y="0"/>
            <a:ext cx="47625" cy="68580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F9774D7D-8745-4B0F-A7D0-48D5BE2CE961}"/>
              </a:ext>
            </a:extLst>
          </ns0:cNvPr>
          <ns0:cNvSpPr>
            <a:spLocks noGrp="1"/>
          </ns0:cNvSpPr>
          <ns0:nvPr/>
        </ns0:nvSpPr>
        <ns0:spPr>
          <a:xfrm>
            <a:off x="9810750" y="0"/>
            <a:ext cx="2381250" cy="2381250"/>
          </a:xfrm>
          <a:prstGeom prst="ellipse">
            <a:avLst/>
          </a:prstGeom>
          <a:solidFill>
            <a:srgbClr val="F0D8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7FB9F1FC-C92D-484C-AC43-291D510BF574}"/>
              </a:ext>
            </a:extLst>
          </ns0:cNvPr>
          <ns0:cNvSpPr>
            <a:spLocks noGrp="1"/>
          </ns0:cNvSpPr>
          <ns0:nvPr/>
        </ns0:nvSpPr>
        <ns0:spPr>
          <a:xfrm>
            <a:off x="10191750" y="381000"/>
            <a:ext cx="1638300" cy="1638300"/>
          </a:xfrm>
          <a:prstGeom prst="ellipse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7" name="">
            <a:extLst>
              <a:ext uri="{FF2B5EF4-FFF2-40B4-BE49-F238E27FC236}">
                <ns2:creationId id="{C8687B8A-BDDA-49F7-A3F7-024058FEC75A}"/>
              </a:ext>
            </a:extLst>
          </ns0:cNvPr>
          <ns0:cNvSpPr>
            <a:spLocks noGrp="1"/>
          </ns0:cNvSpPr>
          <ns0:nvPr/>
        </ns0:nvSpPr>
        <ns0:spPr>
          <a:xfrm>
            <a:off x="6096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完整性控制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5E308A94-AD93-41AA-B89A-3F2FE8D22517}"/>
              </a:ext>
            </a:extLst>
          </ns0:cNvPr>
          <ns0:cNvSpPr>
            <a:spLocks noGrp="1"/>
          </ns0:cNvSpPr>
          <ns0:nvPr/>
        </ns0:nvSpPr>
        <ns0:spPr>
          <a:xfrm>
            <a:off x="609600" y="66675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数据库不是只存数据，而是主动阻止错误数据进入系统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C6591654-56EC-45B7-99FC-347E43E53F19}"/>
              </a:ext>
            </a:extLst>
          </ns0:cNvPr>
          <ns0:cNvSpPr>
            <a:spLocks noGrp="1"/>
          </ns0:cNvSpPr>
          <ns0:nvPr/>
        </ns0:nvSpPr>
        <ns0:spPr>
          <a:xfrm>
            <a:off x="609600" y="13906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约束、索引、触发器和视图共同保证房态、日期、金额、单号的可靠性。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8A1F2A27-AC9D-418E-AD42-B66C5064441E}"/>
              </a:ext>
            </a:extLst>
          </ns0:cNvPr>
          <ns0:cNvSpPr>
            <a:spLocks noGrp="1"/>
          </ns0:cNvSpPr>
          <ns0:nvPr/>
        </ns0:nvSpPr>
        <ns0:spPr>
          <a:xfrm>
            <a:off x="609600" y="64960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rPr>
              <a:t>酒店客房管理系统 · 数据库与后端答辩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0DDE3420-A1E2-4FFC-8844-BB0BD517475B}"/>
              </a:ext>
            </a:extLst>
          </ns0:cNvPr>
          <ns0:cNvSpPr>
            <a:spLocks noGrp="1"/>
          </ns0:cNvSpPr>
          <ns0:nvPr/>
        </ns0:nvSpPr>
        <ns0:spPr>
          <a:xfrm>
            <a:off x="11125200" y="64579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912CB5D8-25F3-4FDB-ABCC-5DF705D71212}"/>
              </a:ext>
            </a:extLst>
          </ns0:cNvPr>
          <ns0:cNvSpPr>
            <a:spLocks noGrp="1"/>
          </ns0:cNvSpPr>
          <ns0:nvPr/>
        </ns0:nvSpPr>
        <ns0:spPr>
          <a:xfrm>
            <a:off x="609600" y="1619250"/>
            <a:ext cx="2571750" cy="123825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CFA25F83-E840-4DF7-AF11-D112B6CD66DA}"/>
              </a:ext>
            </a:extLst>
          </ns0:cNvPr>
          <ns0:cNvSpPr>
            <a:spLocks noGrp="1"/>
          </ns0:cNvSpPr>
          <ns0:nvPr/>
        </ns0:nvSpPr>
        <ns0:spPr>
          <a:xfrm>
            <a:off x="609600" y="1619250"/>
            <a:ext cx="57150" cy="123825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814EB96E-7571-4335-BEC7-E69FF349415F}"/>
              </a:ext>
            </a:extLst>
          </ns0:cNvPr>
          <ns0:cNvSpPr>
            <a:spLocks noGrp="1"/>
          </ns0:cNvSpPr>
          <ns0:nvPr/>
        </ns0:nvSpPr>
        <ns0:spPr>
          <a:xfrm>
            <a:off x="819150" y="1790700"/>
            <a:ext cx="2171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字段约束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74ED8402-103B-40FE-9D01-673E7F278878}"/>
              </a:ext>
            </a:extLst>
          </ns0:cNvPr>
          <ns0:cNvSpPr>
            <a:spLocks noGrp="1"/>
          </ns0:cNvSpPr>
          <ns0:nvPr/>
        </ns0:nvSpPr>
        <ns0:spPr>
          <a:xfrm>
            <a:off x="819150" y="2143125"/>
            <a:ext cx="2171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CHECK 限制价格、押金、天数；ENUM 限制房态、预约状态、支付方式。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41B130DD-F112-4C0C-B460-A0A3A76269DC}"/>
              </a:ext>
            </a:extLst>
          </ns0:cNvPr>
          <ns0:cNvSpPr>
            <a:spLocks noGrp="1"/>
          </ns0:cNvSpPr>
          <ns0:nvPr/>
        </ns0:nvSpPr>
        <ns0:spPr>
          <a:xfrm>
            <a:off x="609600" y="3028950"/>
            <a:ext cx="2571750" cy="123825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69697942-6741-4593-8B51-E7912392ED02}"/>
              </a:ext>
            </a:extLst>
          </ns0:cNvPr>
          <ns0:cNvSpPr>
            <a:spLocks noGrp="1"/>
          </ns0:cNvSpPr>
          <ns0:nvPr/>
        </ns0:nvSpPr>
        <ns0:spPr>
          <a:xfrm>
            <a:off x="609600" y="3028950"/>
            <a:ext cx="57150" cy="1238250"/>
          </a:xfrm>
          <a:prstGeom prst="rect">
            <a:avLst/>
          </a:prstGeom>
          <a:solidFill>
            <a:srgbClr val="1E6B6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3461CCE0-E00C-485C-9EC4-1700A4CB9C80}"/>
              </a:ext>
            </a:extLst>
          </ns0:cNvPr>
          <ns0:cNvSpPr>
            <a:spLocks noGrp="1"/>
          </ns0:cNvSpPr>
          <ns0:nvPr/>
        </ns0:nvSpPr>
        <ns0:spPr>
          <a:xfrm>
            <a:off x="819150" y="3200400"/>
            <a:ext cx="2171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唯一约束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2C557841-48D7-4996-85DD-9B1317A52B8D}"/>
              </a:ext>
            </a:extLst>
          </ns0:cNvPr>
          <ns0:cNvSpPr>
            <a:spLocks noGrp="1"/>
          </ns0:cNvSpPr>
          <ns0:nvPr/>
        </ns0:nvSpPr>
        <ns0:spPr>
          <a:xfrm>
            <a:off x="819150" y="3552825"/>
            <a:ext cx="2171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房号、身份证号、预约单号、入住单号、结算单号均不可重复。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68D5986A-2E0B-4BDF-AD25-DB3F6F6092C2}"/>
              </a:ext>
            </a:extLst>
          </ns0:cNvPr>
          <ns0:cNvSpPr>
            <a:spLocks noGrp="1"/>
          </ns0:cNvSpPr>
          <ns0:nvPr/>
        </ns0:nvSpPr>
        <ns0:spPr>
          <a:xfrm>
            <a:off x="609600" y="4438650"/>
            <a:ext cx="2571750" cy="123825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F45DAE92-2E9E-4804-854F-F4A35DD93173}"/>
              </a:ext>
            </a:extLst>
          </ns0:cNvPr>
          <ns0:cNvSpPr>
            <a:spLocks noGrp="1"/>
          </ns0:cNvSpPr>
          <ns0:nvPr/>
        </ns0:nvSpPr>
        <ns0:spPr>
          <a:xfrm>
            <a:off x="609600" y="4438650"/>
            <a:ext cx="57150" cy="123825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2" name="">
            <a:extLst>
              <a:ext uri="{FF2B5EF4-FFF2-40B4-BE49-F238E27FC236}">
                <ns2:creationId id="{A2F7634E-DF80-44B5-A92C-D15A114DE518}"/>
              </a:ext>
            </a:extLst>
          </ns0:cNvPr>
          <ns0:cNvSpPr>
            <a:spLocks noGrp="1"/>
          </ns0:cNvSpPr>
          <ns0:nvPr/>
        </ns0:nvSpPr>
        <ns0:spPr>
          <a:xfrm>
            <a:off x="819150" y="4610100"/>
            <a:ext cx="2171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外键约束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A52CCA5B-F5EF-4570-8AD3-7D26AAB0B947}"/>
              </a:ext>
            </a:extLst>
          </ns0:cNvPr>
          <ns0:cNvSpPr>
            <a:spLocks noGrp="1"/>
          </ns0:cNvSpPr>
          <ns0:nvPr/>
        </ns0:nvSpPr>
        <ns0:spPr>
          <a:xfrm>
            <a:off x="819150" y="4962525"/>
            <a:ext cx="2171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预约必须有客户和房间；消费与结算必须属于真实入住单。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0704EFBA-793A-41A8-BB41-05CF27046D9F}"/>
              </a:ext>
            </a:extLst>
          </ns0:cNvPr>
          <ns0:cNvSpPr>
            <a:spLocks noGrp="1"/>
          </ns0:cNvSpPr>
          <ns0:nvPr/>
        </ns0:nvSpPr>
        <ns0:spPr>
          <a:xfrm>
            <a:off x="3714750" y="1619250"/>
            <a:ext cx="7239000" cy="2762250"/>
          </a:xfrm>
          <a:prstGeom prst="rect">
            <a:avLst/>
          </a:prstGeom>
          <a:solidFill>
            <a:srgbClr val="1B1D22"/>
          </a:solidFill>
          <a:ln w="9525">
            <a:solidFill>
              <a:srgbClr val="333842"/>
            </a:solidFill>
            <a:prstDash val="solid"/>
          </a:ln>
        </ns0:spPr>
      </ns0:sp>
      <ns0:sp>
        <ns0:nvSpPr>
          <ns0:cNvPr id="25" name="">
            <a:extLst>
              <a:ext uri="{FF2B5EF4-FFF2-40B4-BE49-F238E27FC236}">
                <ns2:creationId id="{E5664757-93D9-46AF-AB23-FF2313684556}"/>
              </a:ext>
            </a:extLst>
          </ns0:cNvPr>
          <ns0:cNvSpPr>
            <a:spLocks noGrp="1"/>
          </ns0:cNvSpPr>
          <ns0:nvPr/>
        </ns0:nvSpPr>
        <ns0:spPr>
          <a:xfrm>
            <a:off x="3714750" y="1619250"/>
            <a:ext cx="7239000" cy="342900"/>
          </a:xfrm>
          <a:prstGeom prst="rect">
            <a:avLst/>
          </a:prstGeom>
          <a:solidFill>
            <a:srgbClr val="2A2D35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6" name="">
            <a:extLst>
              <a:ext uri="{FF2B5EF4-FFF2-40B4-BE49-F238E27FC236}">
                <ns2:creationId id="{481403DA-ACA0-4392-828A-9839E008CFA4}"/>
              </a:ext>
            </a:extLst>
          </ns0:cNvPr>
          <ns0:cNvSpPr>
            <a:spLocks noGrp="1"/>
          </ns0:cNvSpPr>
          <ns0:nvPr/>
        </ns0:nvSpPr>
        <ns0:spPr>
          <a:xfrm>
            <a:off x="3857625" y="1743075"/>
            <a:ext cx="85725" cy="85725"/>
          </a:xfrm>
          <a:prstGeom prst="ellipse">
            <a:avLst/>
          </a:prstGeom>
          <a:solidFill>
            <a:srgbClr val="D95F5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7" name="">
            <a:extLst>
              <a:ext uri="{FF2B5EF4-FFF2-40B4-BE49-F238E27FC236}">
                <ns2:creationId id="{18A7DC35-E287-47F6-A22B-5505F6B9B821}"/>
              </a:ext>
            </a:extLst>
          </ns0:cNvPr>
          <ns0:cNvSpPr>
            <a:spLocks noGrp="1"/>
          </ns0:cNvSpPr>
          <ns0:nvPr/>
        </ns0:nvSpPr>
        <ns0:spPr>
          <a:xfrm>
            <a:off x="4010025" y="1743075"/>
            <a:ext cx="85725" cy="85725"/>
          </a:xfrm>
          <a:prstGeom prst="ellipse">
            <a:avLst/>
          </a:prstGeom>
          <a:solidFill>
            <a:srgbClr val="E9B84C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8" name="">
            <a:extLst>
              <a:ext uri="{FF2B5EF4-FFF2-40B4-BE49-F238E27FC236}">
                <ns2:creationId id="{B66260B6-8BAE-450F-A605-4FBD69ABC81F}"/>
              </a:ext>
            </a:extLst>
          </ns0:cNvPr>
          <ns0:cNvSpPr>
            <a:spLocks noGrp="1"/>
          </ns0:cNvSpPr>
          <ns0:nvPr/>
        </ns0:nvSpPr>
        <ns0:spPr>
          <a:xfrm>
            <a:off x="4162425" y="1743075"/>
            <a:ext cx="85725" cy="85725"/>
          </a:xfrm>
          <a:prstGeom prst="ellipse">
            <a:avLst/>
          </a:prstGeom>
          <a:solidFill>
            <a:srgbClr val="63BF68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9" name="">
            <a:extLst>
              <a:ext uri="{FF2B5EF4-FFF2-40B4-BE49-F238E27FC236}">
                <ns2:creationId id="{7DFAC327-8409-4249-878B-09661DE34FB9}"/>
              </a:ext>
            </a:extLst>
          </ns0:cNvPr>
          <ns0:cNvSpPr>
            <a:spLocks noGrp="1"/>
          </ns0:cNvSpPr>
          <ns0:nvPr/>
        </ns0:nvSpPr>
        <ns0:spPr>
          <a:xfrm>
            <a:off x="4400550" y="1704975"/>
            <a:ext cx="6362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75" b="0">
                <a:solidFill>
                  <a:srgbClr val="D7DCE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7DCE5"/>
                </a:solidFill>
                <a:latin typeface="Consolas"/>
                <a:ea typeface="Consolas"/>
                <a:cs typeface="Consolas"/>
              </a:rPr>
              <a:t>触发器：防止维修房和日期冲突预约</a:t>
            </a:r>
          </a:p>
        </ns0:txBody>
      </ns0:sp>
      <ns0:sp>
        <ns0:nvSpPr>
          <ns0:cNvPr id="30" name="">
            <a:extLst>
              <a:ext uri="{FF2B5EF4-FFF2-40B4-BE49-F238E27FC236}">
                <ns2:creationId id="{E4538738-1625-4BE1-9BE4-6D603A401796}"/>
              </a:ext>
            </a:extLst>
          </ns0:cNvPr>
          <ns0:cNvSpPr>
            <a:spLocks noGrp="1"/>
          </ns0:cNvSpPr>
          <ns0:nvPr/>
        </ns0:nvSpPr>
        <ns0:spPr>
          <a:xfrm>
            <a:off x="3886200" y="2095500"/>
            <a:ext cx="6896100" cy="2190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CREATE TRIGGER trg_reservation_room_conflict_insert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BEFORE INSERT ON reservations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FOR EACH ROW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BEGIN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IF NEW.status IN ('pending','confirmed') THEN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IF EXISTS (... rooms.status='maintenance') THEN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SIGNAL SQLSTATE '45000'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SET MESSAGE_TEXT='ROOM_IN_MAINTENANCE';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END IF;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IF EXISTS (... 日期区间重叠 ...) THEN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SIGNAL SQLSTATE '45000'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SET MESSAGE_TEXT='ROOM_RESERVATION_CONFLICT';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END IF;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END IF;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END;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AF6FCC2D-3C93-452A-8441-4B5AEC7E2CEB}"/>
              </a:ext>
            </a:extLst>
          </ns0:cNvPr>
          <ns0:cNvSpPr>
            <a:spLocks noGrp="1"/>
          </ns0:cNvSpPr>
          <ns0:nvPr/>
        </ns0:nvSpPr>
        <ns0:spPr>
          <a:xfrm>
            <a:off x="4381500" y="5048250"/>
            <a:ext cx="1428750" cy="495300"/>
          </a:xfrm>
          <a:prstGeom prst="rect">
            <a:avLst/>
          </a:prstGeom>
          <a:solidFill>
            <a:srgbClr val="FFFDF9"/>
          </a:solidFill>
          <a:ln w="14288">
            <a:solidFill>
              <a:srgbClr val="7E1F2F"/>
            </a:solidFill>
            <a:prstDash val="solid"/>
          </a:ln>
        </ns0:spPr>
      </ns0:sp>
      <ns0:sp>
        <ns0:nvSpPr>
          <ns0:cNvPr id="32" name="">
            <a:extLst>
              <a:ext uri="{FF2B5EF4-FFF2-40B4-BE49-F238E27FC236}">
                <ns2:creationId id="{B32B3857-569D-4EB9-A4FA-869B20727FE5}"/>
              </a:ext>
            </a:extLst>
          </ns0:cNvPr>
          <ns0:cNvSpPr>
            <a:spLocks noGrp="1"/>
          </ns0:cNvSpPr>
          <ns0:nvPr/>
        </ns0:nvSpPr>
        <ns0:spPr>
          <a:xfrm>
            <a:off x="4457700" y="51816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用户提交预约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6BD7652A-310D-40C5-96D9-08CC5DFC1A91}"/>
              </a:ext>
            </a:extLst>
          </ns0:cNvPr>
          <ns0:cNvSpPr>
            <a:spLocks noGrp="1"/>
          </ns0:cNvSpPr>
          <ns0:nvPr/>
        </ns0:nvSpPr>
        <ns0:spPr>
          <a:xfrm>
            <a:off x="5810250" y="5276850"/>
            <a:ext cx="952500" cy="38100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4" name="">
            <a:extLst>
              <a:ext uri="{FF2B5EF4-FFF2-40B4-BE49-F238E27FC236}">
                <ns2:creationId id="{01D1380E-5D50-4564-9D9E-C9E93351378C}"/>
              </a:ext>
            </a:extLst>
          </ns0:cNvPr>
          <ns0:cNvSpPr>
            <a:spLocks noGrp="1"/>
          </ns0:cNvSpPr>
          <ns0:nvPr/>
        </ns0:nvSpPr>
        <ns0:spPr>
          <a:xfrm>
            <a:off x="6762750" y="5048250"/>
            <a:ext cx="1428750" cy="495300"/>
          </a:xfrm>
          <a:prstGeom prst="rect">
            <a:avLst/>
          </a:prstGeom>
          <a:solidFill>
            <a:srgbClr val="FFFDF9"/>
          </a:solidFill>
          <a:ln w="14288">
            <a:solidFill>
              <a:srgbClr val="1E6B66"/>
            </a:solidFill>
            <a:prstDash val="solid"/>
          </a:ln>
        </ns0:spPr>
      </ns0:sp>
      <ns0:sp>
        <ns0:nvSpPr>
          <ns0:cNvPr id="35" name="">
            <a:extLst>
              <a:ext uri="{FF2B5EF4-FFF2-40B4-BE49-F238E27FC236}">
                <ns2:creationId id="{8F1A1B95-46D1-42B9-8090-6B49F06056DC}"/>
              </a:ext>
            </a:extLst>
          </ns0:cNvPr>
          <ns0:cNvSpPr>
            <a:spLocks noGrp="1"/>
          </ns0:cNvSpPr>
          <ns0:nvPr/>
        </ns0:nvSpPr>
        <ns0:spPr>
          <a:xfrm>
            <a:off x="6838950" y="51816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触发器检查</a:t>
            </a:r>
          </a:p>
        </ns0:txBody>
      </ns0:sp>
      <ns0:sp>
        <ns0:nvSpPr>
          <ns0:cNvPr id="36" name="">
            <a:extLst>
              <a:ext uri="{FF2B5EF4-FFF2-40B4-BE49-F238E27FC236}">
                <ns2:creationId id="{936D0E49-1955-47BB-B74E-097FA1BA2D62}"/>
              </a:ext>
            </a:extLst>
          </ns0:cNvPr>
          <ns0:cNvSpPr>
            <a:spLocks noGrp="1"/>
          </ns0:cNvSpPr>
          <ns0:nvPr/>
        </ns0:nvSpPr>
        <ns0:spPr>
          <a:xfrm>
            <a:off x="8191500" y="5276850"/>
            <a:ext cx="952500" cy="38100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7" name="">
            <a:extLst>
              <a:ext uri="{FF2B5EF4-FFF2-40B4-BE49-F238E27FC236}">
                <ns2:creationId id="{FE7546B3-F5B8-45F2-AD6B-315DE4EA1BED}"/>
              </a:ext>
            </a:extLst>
          </ns0:cNvPr>
          <ns0:cNvSpPr>
            <a:spLocks noGrp="1"/>
          </ns0:cNvSpPr>
          <ns0:nvPr/>
        </ns0:nvSpPr>
        <ns0:spPr>
          <a:xfrm>
            <a:off x="9144000" y="5048250"/>
            <a:ext cx="1428750" cy="495300"/>
          </a:xfrm>
          <a:prstGeom prst="rect">
            <a:avLst/>
          </a:prstGeom>
          <a:solidFill>
            <a:srgbClr val="FFFDF9"/>
          </a:solidFill>
          <a:ln w="14288">
            <a:solidFill>
              <a:srgbClr val="C79344"/>
            </a:solidFill>
            <a:prstDash val="solid"/>
          </a:ln>
        </ns0:spPr>
      </ns0:sp>
      <ns0:sp>
        <ns0:nvSpPr>
          <ns0:cNvPr id="38" name="">
            <a:extLst>
              <a:ext uri="{FF2B5EF4-FFF2-40B4-BE49-F238E27FC236}">
                <ns2:creationId id="{4073E979-89B8-4069-B240-21C804DEF733}"/>
              </a:ext>
            </a:extLst>
          </ns0:cNvPr>
          <ns0:cNvSpPr>
            <a:spLocks noGrp="1"/>
          </ns0:cNvSpPr>
          <ns0:nvPr/>
        </ns0:nvSpPr>
        <ns0:spPr>
          <a:xfrm>
            <a:off x="9220200" y="51816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通过才写库</a:t>
            </a:r>
          </a:p>
        </ns0:txBody>
      </ns0:sp>
      <ns0:sp>
        <ns0:nvSpPr>
          <ns0:cNvPr id="39" name="">
            <a:extLst>
              <a:ext uri="{FF2B5EF4-FFF2-40B4-BE49-F238E27FC236}">
                <ns2:creationId id="{7B9DC35F-CCC0-40B8-8D2A-EB02DB288AE9}"/>
              </a:ext>
            </a:extLst>
          </ns0:cNvPr>
          <ns0:cNvSpPr>
            <a:spLocks noGrp="1"/>
          </ns0:cNvSpPr>
          <ns0:nvPr/>
        </ns0:nvSpPr>
        <ns0:spPr>
          <a:xfrm>
            <a:off x="3733800" y="5810250"/>
            <a:ext cx="742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答辩讲法：这说明错误数据不是靠人工记住，而是数据库底层自动拦截。</a:t>
            </a:r>
          </a:p>
        </ns0:txBody>
      </ns0:sp>
    </ns0:spTree>
    <ns0:extLst>
      <ns0:ext uri="{BB962C8B-B14F-4D97-AF65-F5344CB8AC3E}">
        <ns3:creationId val="299041913"/>
      </ns0:ext>
    </ns0:extLst>
  </ns0:cSld>
</ns0:sld>
</file>

<file path=ppt/slides/slide7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FB12403C-4194-49D9-8407-D6B715A99EE8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A32FDA4B-1125-4D67-86FD-C97DCA5B79F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FB94C044-CE08-405C-B58D-B6307DED28D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71450" cy="68580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0EB1BD06-C0A1-4E82-9F3B-3E3025AADF3E}"/>
              </a:ext>
            </a:extLst>
          </ns0:cNvPr>
          <ns0:cNvSpPr>
            <a:spLocks noGrp="1"/>
          </ns0:cNvSpPr>
          <ns0:nvPr/>
        </ns0:nvSpPr>
        <ns0:spPr>
          <a:xfrm>
            <a:off x="171450" y="0"/>
            <a:ext cx="47625" cy="68580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AE8DA863-0D7E-48E8-90AD-FBC87F519562}"/>
              </a:ext>
            </a:extLst>
          </ns0:cNvPr>
          <ns0:cNvSpPr>
            <a:spLocks noGrp="1"/>
          </ns0:cNvSpPr>
          <ns0:nvPr/>
        </ns0:nvSpPr>
        <ns0:spPr>
          <a:xfrm>
            <a:off x="9810750" y="0"/>
            <a:ext cx="2381250" cy="2381250"/>
          </a:xfrm>
          <a:prstGeom prst="ellipse">
            <a:avLst/>
          </a:prstGeom>
          <a:solidFill>
            <a:srgbClr val="F0D8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27D2D177-0696-45C7-B23A-EC2319C44BAF}"/>
              </a:ext>
            </a:extLst>
          </ns0:cNvPr>
          <ns0:cNvSpPr>
            <a:spLocks noGrp="1"/>
          </ns0:cNvSpPr>
          <ns0:nvPr/>
        </ns0:nvSpPr>
        <ns0:spPr>
          <a:xfrm>
            <a:off x="10191750" y="381000"/>
            <a:ext cx="1638300" cy="1638300"/>
          </a:xfrm>
          <a:prstGeom prst="ellipse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7" name="">
            <a:extLst>
              <a:ext uri="{FF2B5EF4-FFF2-40B4-BE49-F238E27FC236}">
                <ns2:creationId id="{3D1B235C-21F6-40B9-B4FE-66A24C152AEB}"/>
              </a:ext>
            </a:extLst>
          </ns0:cNvPr>
          <ns0:cNvSpPr>
            <a:spLocks noGrp="1"/>
          </ns0:cNvSpPr>
          <ns0:nvPr/>
        </ns0:nvSpPr>
        <ns0:spPr>
          <a:xfrm>
            <a:off x="6096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后端架构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ABF85E87-6615-4CD8-9E9F-86051B51F5E4}"/>
              </a:ext>
            </a:extLst>
          </ns0:cNvPr>
          <ns0:cNvSpPr>
            <a:spLocks noGrp="1"/>
          </ns0:cNvSpPr>
          <ns0:nvPr/>
        </ns0:nvSpPr>
        <ns0:spPr>
          <a:xfrm>
            <a:off x="609600" y="66675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Python 后端承担路由分发、权限判断、业务事务和数据库访问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ECE42AE8-DC22-4D33-A1EC-ACA12A0D3684}"/>
              </a:ext>
            </a:extLst>
          </ns0:cNvPr>
          <ns0:cNvSpPr>
            <a:spLocks noGrp="1"/>
          </ns0:cNvSpPr>
          <ns0:nvPr/>
        </ns0:nvSpPr>
        <ns0:spPr>
          <a:xfrm>
            <a:off x="609600" y="13906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前端只负责交互；真正的业务规则放在后端和数据库，避免绕过页面造成脏数据。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939F6DEC-7FD0-485F-8D5B-4CD92818D6C1}"/>
              </a:ext>
            </a:extLst>
          </ns0:cNvPr>
          <ns0:cNvSpPr>
            <a:spLocks noGrp="1"/>
          </ns0:cNvSpPr>
          <ns0:nvPr/>
        </ns0:nvSpPr>
        <ns0:spPr>
          <a:xfrm>
            <a:off x="609600" y="64960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rPr>
              <a:t>酒店客房管理系统 · 数据库与后端答辩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26783052-2D59-47FD-B932-FDFE789AD1BD}"/>
              </a:ext>
            </a:extLst>
          </ns0:cNvPr>
          <ns0:cNvSpPr>
            <a:spLocks noGrp="1"/>
          </ns0:cNvSpPr>
          <ns0:nvPr/>
        </ns0:nvSpPr>
        <ns0:spPr>
          <a:xfrm>
            <a:off x="11125200" y="64579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9CBB7896-2105-4C35-8F84-AA0D07FDEE63}"/>
              </a:ext>
            </a:extLst>
          </ns0:cNvPr>
          <ns0:cNvSpPr>
            <a:spLocks noGrp="1"/>
          </ns0:cNvSpPr>
          <ns0:nvPr/>
        </ns0:nvSpPr>
        <ns0:spPr>
          <a:xfrm>
            <a:off x="762000" y="2667000"/>
            <a:ext cx="1524000" cy="742950"/>
          </a:xfrm>
          <a:prstGeom prst="rect">
            <a:avLst/>
          </a:prstGeom>
          <a:solidFill>
            <a:srgbClr val="FFFDF9"/>
          </a:solidFill>
          <a:ln w="14288">
            <a:solidFill>
              <a:srgbClr val="2B5E7E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67371AFD-3F97-474C-8C46-9E5A78B25BED}"/>
              </a:ext>
            </a:extLst>
          </ns0:cNvPr>
          <ns0:cNvSpPr>
            <a:spLocks noGrp="1"/>
          </ns0:cNvSpPr>
          <ns0:nvPr/>
        </ns0:nvSpPr>
        <ns0:spPr>
          <a:xfrm>
            <a:off x="838200" y="2819400"/>
            <a:ext cx="1371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Edge 浏览器</a:t>
            </a:r>
          </a:p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HTML/CSS/JS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F5B21D9B-A348-48E6-8CA4-68351554C429}"/>
              </a:ext>
            </a:extLst>
          </ns0:cNvPr>
          <ns0:cNvSpPr>
            <a:spLocks noGrp="1"/>
          </ns0:cNvSpPr>
          <ns0:nvPr/>
        </ns0:nvSpPr>
        <ns0:spPr>
          <a:xfrm>
            <a:off x="2952750" y="2667000"/>
            <a:ext cx="1428750" cy="742950"/>
          </a:xfrm>
          <a:prstGeom prst="rect">
            <a:avLst/>
          </a:prstGeom>
          <a:solidFill>
            <a:srgbClr val="FFFDF9"/>
          </a:solidFill>
          <a:ln w="14288">
            <a:solidFill>
              <a:srgbClr val="1E6B66"/>
            </a:solidFill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A1A2A9FC-330B-414E-AB03-FBD8A993F76B}"/>
              </a:ext>
            </a:extLst>
          </ns0:cNvPr>
          <ns0:cNvSpPr>
            <a:spLocks noGrp="1"/>
          </ns0:cNvSpPr>
          <ns0:nvPr/>
        </ns0:nvSpPr>
        <ns0:spPr>
          <a:xfrm>
            <a:off x="3028950" y="2819400"/>
            <a:ext cx="1276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fetch JSON</a:t>
            </a:r>
          </a:p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/api/...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36F0AAAE-D464-40AC-A023-35C2582F9BF1}"/>
              </a:ext>
            </a:extLst>
          </ns0:cNvPr>
          <ns0:cNvSpPr>
            <a:spLocks noGrp="1"/>
          </ns0:cNvSpPr>
          <ns0:nvPr/>
        </ns0:nvSpPr>
        <ns0:spPr>
          <a:xfrm>
            <a:off x="5048250" y="2667000"/>
            <a:ext cx="1619250" cy="742950"/>
          </a:xfrm>
          <a:prstGeom prst="rect">
            <a:avLst/>
          </a:prstGeom>
          <a:solidFill>
            <a:srgbClr val="FFFDF9"/>
          </a:solidFill>
          <a:ln w="14288">
            <a:solidFill>
              <a:srgbClr val="7E1F2F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DCC82041-FE31-44FE-BB37-B87B194D008D}"/>
              </a:ext>
            </a:extLst>
          </ns0:cNvPr>
          <ns0:cNvSpPr>
            <a:spLocks noGrp="1"/>
          </ns0:cNvSpPr>
          <ns0:nvPr/>
        </ns0:nvSpPr>
        <ns0:spPr>
          <a:xfrm>
            <a:off x="5124450" y="281940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HotelHandler</a:t>
            </a:r>
          </a:p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路由与鉴权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C4737F35-386D-4C13-9465-00C9EE114259}"/>
              </a:ext>
            </a:extLst>
          </ns0:cNvPr>
          <ns0:cNvSpPr>
            <a:spLocks noGrp="1"/>
          </ns0:cNvSpPr>
          <ns0:nvPr/>
        </ns0:nvSpPr>
        <ns0:spPr>
          <a:xfrm>
            <a:off x="7429500" y="2667000"/>
            <a:ext cx="1762125" cy="742950"/>
          </a:xfrm>
          <a:prstGeom prst="rect">
            <a:avLst/>
          </a:prstGeom>
          <a:solidFill>
            <a:srgbClr val="FFFDF9"/>
          </a:solidFill>
          <a:ln w="14288">
            <a:solidFill>
              <a:srgbClr val="C79344"/>
            </a:solidFill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5CD67869-BD0E-4870-853A-1FCC36BADF59}"/>
              </a:ext>
            </a:extLst>
          </ns0:cNvPr>
          <ns0:cNvSpPr>
            <a:spLocks noGrp="1"/>
          </ns0:cNvSpPr>
          <ns0:nvPr/>
        </ns0:nvSpPr>
        <ns0:spPr>
          <a:xfrm>
            <a:off x="7505700" y="2819400"/>
            <a:ext cx="16097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业务函数</a:t>
            </a:r>
          </a:p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预约/入住/结算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0028D1E2-F94C-476E-9CB9-A181DA8319BE}"/>
              </a:ext>
            </a:extLst>
          </ns0:cNvPr>
          <ns0:cNvSpPr>
            <a:spLocks noGrp="1"/>
          </ns0:cNvSpPr>
          <ns0:nvPr/>
        </ns0:nvSpPr>
        <ns0:spPr>
          <a:xfrm>
            <a:off x="9906000" y="2667000"/>
            <a:ext cx="1666875" cy="742950"/>
          </a:xfrm>
          <a:prstGeom prst="rect">
            <a:avLst/>
          </a:prstGeom>
          <a:solidFill>
            <a:srgbClr val="FFFDF9"/>
          </a:solidFill>
          <a:ln w="14288">
            <a:solidFill>
              <a:srgbClr val="1E6B66"/>
            </a:solidFill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BF773FD7-DC9C-4D37-A6C3-45DAC809E201}"/>
              </a:ext>
            </a:extLst>
          </ns0:cNvPr>
          <ns0:cNvSpPr>
            <a:spLocks noGrp="1"/>
          </ns0:cNvSpPr>
          <ns0:nvPr/>
        </ns0:nvSpPr>
        <ns0:spPr>
          <a:xfrm>
            <a:off x="9982200" y="2819400"/>
            <a:ext cx="15144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hotel_room_system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E6FA3FCF-5D38-452C-A691-E56EDF216E55}"/>
              </a:ext>
            </a:extLst>
          </ns0:cNvPr>
          <ns0:cNvSpPr>
            <a:spLocks noGrp="1"/>
          </ns0:cNvSpPr>
          <ns0:nvPr/>
        </ns0:nvSpPr>
        <ns0:spPr>
          <a:xfrm>
            <a:off x="2286000" y="3014663"/>
            <a:ext cx="666750" cy="47625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0F1CAF1E-72B9-4792-94FE-9C2BC9E05E66}"/>
              </a:ext>
            </a:extLst>
          </ns0:cNvPr>
          <ns0:cNvSpPr>
            <a:spLocks noGrp="1"/>
          </ns0:cNvSpPr>
          <ns0:nvPr/>
        </ns0:nvSpPr>
        <ns0:spPr>
          <a:xfrm>
            <a:off x="4381500" y="3014663"/>
            <a:ext cx="666750" cy="47625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4" name="">
            <a:extLst>
              <a:ext uri="{FF2B5EF4-FFF2-40B4-BE49-F238E27FC236}">
                <ns2:creationId id="{DB581800-7CAF-4E0F-84E9-360347B1D437}"/>
              </a:ext>
            </a:extLst>
          </ns0:cNvPr>
          <ns0:cNvSpPr>
            <a:spLocks noGrp="1"/>
          </ns0:cNvSpPr>
          <ns0:nvPr/>
        </ns0:nvSpPr>
        <ns0:spPr>
          <a:xfrm>
            <a:off x="6667500" y="3014663"/>
            <a:ext cx="762000" cy="47625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5" name="">
            <a:extLst>
              <a:ext uri="{FF2B5EF4-FFF2-40B4-BE49-F238E27FC236}">
                <ns2:creationId id="{F4A18229-93AE-409A-9898-FB04019F70BA}"/>
              </a:ext>
            </a:extLst>
          </ns0:cNvPr>
          <ns0:cNvSpPr>
            <a:spLocks noGrp="1"/>
          </ns0:cNvSpPr>
          <ns0:nvPr/>
        </ns0:nvSpPr>
        <ns0:spPr>
          <a:xfrm>
            <a:off x="9191625" y="3014663"/>
            <a:ext cx="714375" cy="47625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6" name="">
            <a:extLst>
              <a:ext uri="{FF2B5EF4-FFF2-40B4-BE49-F238E27FC236}">
                <ns2:creationId id="{292B9467-8C3D-4E9C-9B04-298059D9AEBA}"/>
              </a:ext>
            </a:extLst>
          </ns0:cNvPr>
          <ns0:cNvSpPr>
            <a:spLocks noGrp="1"/>
          </ns0:cNvSpPr>
          <ns0:nvPr/>
        </ns0:nvSpPr>
        <ns0:spPr>
          <a:xfrm>
            <a:off x="914400" y="4476750"/>
            <a:ext cx="2952750" cy="11049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7" name="">
            <a:extLst>
              <a:ext uri="{FF2B5EF4-FFF2-40B4-BE49-F238E27FC236}">
                <ns2:creationId id="{32A5865F-A53B-4DE3-8DD4-560B00721A5D}"/>
              </a:ext>
            </a:extLst>
          </ns0:cNvPr>
          <ns0:cNvSpPr>
            <a:spLocks noGrp="1"/>
          </ns0:cNvSpPr>
          <ns0:nvPr/>
        </ns0:nvSpPr>
        <ns0:spPr>
          <a:xfrm>
            <a:off x="914400" y="4476750"/>
            <a:ext cx="57150" cy="1104900"/>
          </a:xfrm>
          <a:prstGeom prst="rect">
            <a:avLst/>
          </a:prstGeom>
          <a:solidFill>
            <a:srgbClr val="1E6B6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8" name="">
            <a:extLst>
              <a:ext uri="{FF2B5EF4-FFF2-40B4-BE49-F238E27FC236}">
                <ns2:creationId id="{824608F7-266B-45A8-9D87-8BCAE34B8D85}"/>
              </a:ext>
            </a:extLst>
          </ns0:cNvPr>
          <ns0:cNvSpPr>
            <a:spLocks noGrp="1"/>
          </ns0:cNvSpPr>
          <ns0:nvPr/>
        </ns0:nvSpPr>
        <ns0:spPr>
          <a:xfrm>
            <a:off x="1123950" y="4648200"/>
            <a:ext cx="255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连接层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816F87B9-C363-4CE7-A31B-7D0056AD5503}"/>
              </a:ext>
            </a:extLst>
          </ns0:cNvPr>
          <ns0:cNvSpPr>
            <a:spLocks noGrp="1"/>
          </ns0:cNvSpPr>
          <ns0:nvPr/>
        </ns0:nvSpPr>
        <ns0:spPr>
          <a:xfrm>
            <a:off x="1123950" y="5000625"/>
            <a:ext cx="2552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MySQLConnection 封装 PyMySQL，统一 commit / rollback；translate_sql 处理占位符与日期函数差异。</a:t>
            </a:r>
          </a:p>
        </ns0:txBody>
      </ns0:sp>
      <ns0:sp>
        <ns0:nvSpPr>
          <ns0:cNvPr id="30" name="">
            <a:extLst>
              <a:ext uri="{FF2B5EF4-FFF2-40B4-BE49-F238E27FC236}">
                <ns2:creationId id="{B40FDB74-7F4E-4C11-9734-D2D7ED6F6EA6}"/>
              </a:ext>
            </a:extLst>
          </ns0:cNvPr>
          <ns0:cNvSpPr>
            <a:spLocks noGrp="1"/>
          </ns0:cNvSpPr>
          <ns0:nvPr/>
        </ns0:nvSpPr>
        <ns0:spPr>
          <a:xfrm>
            <a:off x="4438650" y="4476750"/>
            <a:ext cx="2952750" cy="11049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31" name="">
            <a:extLst>
              <a:ext uri="{FF2B5EF4-FFF2-40B4-BE49-F238E27FC236}">
                <ns2:creationId id="{BEE9BB09-3463-4C00-80A1-B01245780BE2}"/>
              </a:ext>
            </a:extLst>
          </ns0:cNvPr>
          <ns0:cNvSpPr>
            <a:spLocks noGrp="1"/>
          </ns0:cNvSpPr>
          <ns0:nvPr/>
        </ns0:nvSpPr>
        <ns0:spPr>
          <a:xfrm>
            <a:off x="4438650" y="4476750"/>
            <a:ext cx="57150" cy="11049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2" name="">
            <a:extLst>
              <a:ext uri="{FF2B5EF4-FFF2-40B4-BE49-F238E27FC236}">
                <ns2:creationId id="{F7080395-0C12-4ADA-85F4-EE8E515C7795}"/>
              </a:ext>
            </a:extLst>
          </ns0:cNvPr>
          <ns0:cNvSpPr>
            <a:spLocks noGrp="1"/>
          </ns0:cNvSpPr>
          <ns0:nvPr/>
        </ns0:nvSpPr>
        <ns0:spPr>
          <a:xfrm>
            <a:off x="4648200" y="4648200"/>
            <a:ext cx="255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4911C1E3-7D63-4350-A479-3B6D419E2EC5}"/>
              </a:ext>
            </a:extLst>
          </ns0:cNvPr>
          <ns0:cNvSpPr>
            <a:spLocks noGrp="1"/>
          </ns0:cNvSpPr>
          <ns0:nvPr/>
        </ns0:nvSpPr>
        <ns0:spPr>
          <a:xfrm>
            <a:off x="4648200" y="5000625"/>
            <a:ext cx="2552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create_checkin、checkout、update_room_status 等函数把复杂业务拆成可读步骤。</a:t>
            </a:r>
          </a:p>
        </ns0:txBody>
      </ns0:sp>
      <ns0:sp>
        <ns0:nvSpPr>
          <ns0:cNvPr id="34" name="">
            <a:extLst>
              <a:ext uri="{FF2B5EF4-FFF2-40B4-BE49-F238E27FC236}">
                <ns2:creationId id="{1DDC3987-27B7-4A01-BF08-B6B071E5C3F4}"/>
              </a:ext>
            </a:extLst>
          </ns0:cNvPr>
          <ns0:cNvSpPr>
            <a:spLocks noGrp="1"/>
          </ns0:cNvSpPr>
          <ns0:nvPr/>
        </ns0:nvSpPr>
        <ns0:spPr>
          <a:xfrm>
            <a:off x="7962900" y="4476750"/>
            <a:ext cx="2952750" cy="11049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35" name="">
            <a:extLst>
              <a:ext uri="{FF2B5EF4-FFF2-40B4-BE49-F238E27FC236}">
                <ns2:creationId id="{4ACC109E-63F2-4183-800E-030BF3F0F11A}"/>
              </a:ext>
            </a:extLst>
          </ns0:cNvPr>
          <ns0:cNvSpPr>
            <a:spLocks noGrp="1"/>
          </ns0:cNvSpPr>
          <ns0:nvPr/>
        </ns0:nvSpPr>
        <ns0:spPr>
          <a:xfrm>
            <a:off x="7962900" y="4476750"/>
            <a:ext cx="57150" cy="11049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EA7B5F17-34D9-4288-8490-72FE274E01D4}"/>
              </a:ext>
            </a:extLst>
          </ns0:cNvPr>
          <ns0:cNvSpPr>
            <a:spLocks noGrp="1"/>
          </ns0:cNvSpPr>
          <ns0:nvPr/>
        </ns0:nvSpPr>
        <ns0:spPr>
          <a:xfrm>
            <a:off x="8172450" y="4648200"/>
            <a:ext cx="255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异常层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BED46E59-AF68-45E8-87C4-878B0666C8AC}"/>
              </a:ext>
            </a:extLst>
          </ns0:cNvPr>
          <ns0:cNvSpPr>
            <a:spLocks noGrp="1"/>
          </ns0:cNvSpPr>
          <ns0:nvPr/>
        </ns0:nvSpPr>
        <ns0:spPr>
          <a:xfrm>
            <a:off x="8172450" y="5000625"/>
            <a:ext cx="2552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ApiError 和 api_error_from_database 把数据库错误转换成用户能看懂的提示。</a:t>
            </a:r>
          </a:p>
        </ns0:txBody>
      </ns0:sp>
    </ns0:spTree>
    <ns0:extLst>
      <ns0:ext uri="{BB962C8B-B14F-4D97-AF65-F5344CB8AC3E}">
        <ns3:creationId val="472293562"/>
      </ns0:ext>
    </ns0:extLst>
  </ns0:cSld>
</ns0:sld>
</file>

<file path=ppt/slides/slide8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3DA91F29-415B-479E-B6A3-0BFA178BDDE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69138C56-5497-4705-8DA5-713D93E52371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D8718E59-80AF-469D-82B2-A1042C284C0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71450" cy="68580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C07D1E60-68F1-4279-B26B-19A7E99C253C}"/>
              </a:ext>
            </a:extLst>
          </ns0:cNvPr>
          <ns0:cNvSpPr>
            <a:spLocks noGrp="1"/>
          </ns0:cNvSpPr>
          <ns0:nvPr/>
        </ns0:nvSpPr>
        <ns0:spPr>
          <a:xfrm>
            <a:off x="171450" y="0"/>
            <a:ext cx="47625" cy="68580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69AB2A90-452E-418A-B4E2-B99FA215260B}"/>
              </a:ext>
            </a:extLst>
          </ns0:cNvPr>
          <ns0:cNvSpPr>
            <a:spLocks noGrp="1"/>
          </ns0:cNvSpPr>
          <ns0:nvPr/>
        </ns0:nvSpPr>
        <ns0:spPr>
          <a:xfrm>
            <a:off x="9810750" y="0"/>
            <a:ext cx="2381250" cy="2381250"/>
          </a:xfrm>
          <a:prstGeom prst="ellipse">
            <a:avLst/>
          </a:prstGeom>
          <a:solidFill>
            <a:srgbClr val="F0D8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AD04ED49-34A7-4617-880E-7BDC0CA59BE0}"/>
              </a:ext>
            </a:extLst>
          </ns0:cNvPr>
          <ns0:cNvSpPr>
            <a:spLocks noGrp="1"/>
          </ns0:cNvSpPr>
          <ns0:nvPr/>
        </ns0:nvSpPr>
        <ns0:spPr>
          <a:xfrm>
            <a:off x="10191750" y="381000"/>
            <a:ext cx="1638300" cy="1638300"/>
          </a:xfrm>
          <a:prstGeom prst="ellipse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7" name="">
            <a:extLst>
              <a:ext uri="{FF2B5EF4-FFF2-40B4-BE49-F238E27FC236}">
                <ns2:creationId id="{F7EFBFB9-CE5C-4227-8A24-14553F888B28}"/>
              </a:ext>
            </a:extLst>
          </ns0:cNvPr>
          <ns0:cNvSpPr>
            <a:spLocks noGrp="1"/>
          </ns0:cNvSpPr>
          <ns0:nvPr/>
        </ns0:nvSpPr>
        <ns0:spPr>
          <a:xfrm>
            <a:off x="6096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API 路由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5B7447A4-EDA2-4B6F-8AA9-7DFD57AC3AB7}"/>
              </a:ext>
            </a:extLst>
          </ns0:cNvPr>
          <ns0:cNvSpPr>
            <a:spLocks noGrp="1"/>
          </ns0:cNvSpPr>
          <ns0:nvPr/>
        </ns0:nvSpPr>
        <ns0:spPr>
          <a:xfrm>
            <a:off x="609600" y="66675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handle_api 是后端中枢：按路径把请求分发到不同业务模块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28722E03-8AEC-4825-9767-A45308DCC647}"/>
              </a:ext>
            </a:extLst>
          </ns0:cNvPr>
          <ns0:cNvSpPr>
            <a:spLocks noGrp="1"/>
          </ns0:cNvSpPr>
          <ns0:nvPr/>
        </ns0:nvSpPr>
        <ns0:spPr>
          <a:xfrm>
            <a:off x="609600" y="13906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答辩时可以把它理解成酒店前台总机：收到请求后转给客房、预约、结算等部门。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932E0508-E0B8-488D-AB30-FC95777FD0CE}"/>
              </a:ext>
            </a:extLst>
          </ns0:cNvPr>
          <ns0:cNvSpPr>
            <a:spLocks noGrp="1"/>
          </ns0:cNvSpPr>
          <ns0:nvPr/>
        </ns0:nvSpPr>
        <ns0:spPr>
          <a:xfrm>
            <a:off x="609600" y="64960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rPr>
              <a:t>酒店客房管理系统 · 数据库与后端答辩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8C20B76B-25BE-4DBA-B326-E2A28C91031A}"/>
              </a:ext>
            </a:extLst>
          </ns0:cNvPr>
          <ns0:cNvSpPr>
            <a:spLocks noGrp="1"/>
          </ns0:cNvSpPr>
          <ns0:nvPr/>
        </ns0:nvSpPr>
        <ns0:spPr>
          <a:xfrm>
            <a:off x="11125200" y="64579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DD9C0F32-77BC-4CA6-BE27-233D1C8D521E}"/>
              </a:ext>
            </a:extLst>
          </ns0:cNvPr>
          <ns0:cNvSpPr>
            <a:spLocks noGrp="1"/>
          </ns0:cNvSpPr>
          <ns0:nvPr/>
        </ns0:nvSpPr>
        <ns0:spPr>
          <a:xfrm>
            <a:off x="666750" y="1619250"/>
            <a:ext cx="5810250" cy="4095750"/>
          </a:xfrm>
          <a:prstGeom prst="rect">
            <a:avLst/>
          </a:prstGeom>
          <a:solidFill>
            <a:srgbClr val="1B1D22"/>
          </a:solidFill>
          <a:ln w="9525">
            <a:solidFill>
              <a:srgbClr val="333842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8E2572E7-4B10-4BAA-96CD-7703A6695B11}"/>
              </a:ext>
            </a:extLst>
          </ns0:cNvPr>
          <ns0:cNvSpPr>
            <a:spLocks noGrp="1"/>
          </ns0:cNvSpPr>
          <ns0:nvPr/>
        </ns0:nvSpPr>
        <ns0:spPr>
          <a:xfrm>
            <a:off x="666750" y="1619250"/>
            <a:ext cx="5810250" cy="342900"/>
          </a:xfrm>
          <a:prstGeom prst="rect">
            <a:avLst/>
          </a:prstGeom>
          <a:solidFill>
            <a:srgbClr val="2A2D35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DE99FFE2-AF31-4A68-B9DD-1C3701D80B97}"/>
              </a:ext>
            </a:extLst>
          </ns0:cNvPr>
          <ns0:cNvSpPr>
            <a:spLocks noGrp="1"/>
          </ns0:cNvSpPr>
          <ns0:nvPr/>
        </ns0:nvSpPr>
        <ns0:spPr>
          <a:xfrm>
            <a:off x="809625" y="1743075"/>
            <a:ext cx="85725" cy="85725"/>
          </a:xfrm>
          <a:prstGeom prst="ellipse">
            <a:avLst/>
          </a:prstGeom>
          <a:solidFill>
            <a:srgbClr val="D95F5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4E45F942-39EB-42E1-B3A0-C93B44E9AA2F}"/>
              </a:ext>
            </a:extLst>
          </ns0:cNvPr>
          <ns0:cNvSpPr>
            <a:spLocks noGrp="1"/>
          </ns0:cNvSpPr>
          <ns0:nvPr/>
        </ns0:nvSpPr>
        <ns0:spPr>
          <a:xfrm>
            <a:off x="962025" y="1743075"/>
            <a:ext cx="85725" cy="85725"/>
          </a:xfrm>
          <a:prstGeom prst="ellipse">
            <a:avLst/>
          </a:prstGeom>
          <a:solidFill>
            <a:srgbClr val="E9B84C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27A8C4F5-848A-4E55-8B20-C8DF2F5ABBC8}"/>
              </a:ext>
            </a:extLst>
          </ns0:cNvPr>
          <ns0:cNvSpPr>
            <a:spLocks noGrp="1"/>
          </ns0:cNvSpPr>
          <ns0:nvPr/>
        </ns0:nvSpPr>
        <ns0:spPr>
          <a:xfrm>
            <a:off x="1114425" y="1743075"/>
            <a:ext cx="85725" cy="85725"/>
          </a:xfrm>
          <a:prstGeom prst="ellipse">
            <a:avLst/>
          </a:prstGeom>
          <a:solidFill>
            <a:srgbClr val="63BF68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7D732431-D37D-4CC1-B017-60A96890B7B7}"/>
              </a:ext>
            </a:extLst>
          </ns0:cNvPr>
          <ns0:cNvSpPr>
            <a:spLocks noGrp="1"/>
          </ns0:cNvSpPr>
          <ns0:nvPr/>
        </ns0:nvSpPr>
        <ns0:spPr>
          <a:xfrm>
            <a:off x="1352550" y="1704975"/>
            <a:ext cx="493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75" b="0">
                <a:solidFill>
                  <a:srgbClr val="D7DCE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7DCE5"/>
                </a:solidFill>
                <a:latin typeface="Consolas"/>
                <a:ea typeface="Consolas"/>
                <a:cs typeface="Consolas"/>
              </a:rPr>
              <a:t>Python：REST API 分发逻辑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95DA92A3-DEB5-4C2A-BEEC-92C463E179BC}"/>
              </a:ext>
            </a:extLst>
          </ns0:cNvPr>
          <ns0:cNvSpPr>
            <a:spLocks noGrp="1"/>
          </ns0:cNvSpPr>
          <ns0:nvPr/>
        </ns0:nvSpPr>
        <ns0:spPr>
          <a:xfrm>
            <a:off x="838200" y="2095500"/>
            <a:ext cx="5467350" cy="3524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def handle_api(self, path, query):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if path == "/api/login" and self.command == "POST":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self.login()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return</a:t>
            </a:r>
          </a:p>
          <a:p>
            <a:r>
              <a:t/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user = self.current_user()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resource = parts[1]</a:t>
            </a:r>
          </a:p>
          <a:p>
            <a:r>
              <a:t/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if resource == "rooms":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self.rooms(parts, query, user)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elif resource == "reservations":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self.reservations(parts, query, user)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elif resource == "checkins" and self.command == "POST":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self.create_checkin(user)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elif resource == "checkouts" and self.command == "POST":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self.checkout(user)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elif resource == "reports" and self.command == "GET":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self.reports()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30357DD6-0490-4FF6-B5A0-43DC4E48FCD6}"/>
              </a:ext>
            </a:extLst>
          </ns0:cNvPr>
          <ns0:cNvSpPr>
            <a:spLocks noGrp="1"/>
          </ns0:cNvSpPr>
          <ns0:nvPr/>
        </ns0:nvSpPr>
        <ns0:spPr>
          <a:xfrm>
            <a:off x="6953250" y="1714500"/>
            <a:ext cx="3714750" cy="100965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B8B4A761-C85C-4DB7-A14B-8D1FDC2FFE38}"/>
              </a:ext>
            </a:extLst>
          </ns0:cNvPr>
          <ns0:cNvSpPr>
            <a:spLocks noGrp="1"/>
          </ns0:cNvSpPr>
          <ns0:nvPr/>
        </ns0:nvSpPr>
        <ns0:spPr>
          <a:xfrm>
            <a:off x="6953250" y="1714500"/>
            <a:ext cx="57150" cy="100965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D34C8D3E-4DFE-4FF5-82BC-0AA8508CDDF9}"/>
              </a:ext>
            </a:extLst>
          </ns0:cNvPr>
          <ns0:cNvSpPr>
            <a:spLocks noGrp="1"/>
          </ns0:cNvSpPr>
          <ns0:nvPr/>
        </ns0:nvSpPr>
        <ns0:spPr>
          <a:xfrm>
            <a:off x="7162800" y="1885950"/>
            <a:ext cx="3314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为什么这样写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0630C9B8-5AFB-4FC8-B7FF-5DAF09D29E9F}"/>
              </a:ext>
            </a:extLst>
          </ns0:cNvPr>
          <ns0:cNvSpPr>
            <a:spLocks noGrp="1"/>
          </ns0:cNvSpPr>
          <ns0:nvPr/>
        </ns0:nvSpPr>
        <ns0:spPr>
          <a:xfrm>
            <a:off x="7162800" y="2238375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把 URL 和功能一一对应，前端只需要请求固定接口，后端负责实际业务判断。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318D2DA6-DCEA-4596-9BE4-F2BA014B2752}"/>
              </a:ext>
            </a:extLst>
          </ns0:cNvPr>
          <ns0:cNvSpPr>
            <a:spLocks noGrp="1"/>
          </ns0:cNvSpPr>
          <ns0:nvPr/>
        </ns0:nvSpPr>
        <ns0:spPr>
          <a:xfrm>
            <a:off x="6953250" y="3000375"/>
            <a:ext cx="3714750" cy="100965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4" name="">
            <a:extLst>
              <a:ext uri="{FF2B5EF4-FFF2-40B4-BE49-F238E27FC236}">
                <ns2:creationId id="{92D6966E-9A3B-44D6-BEED-4F6A28E0050C}"/>
              </a:ext>
            </a:extLst>
          </ns0:cNvPr>
          <ns0:cNvSpPr>
            <a:spLocks noGrp="1"/>
          </ns0:cNvSpPr>
          <ns0:nvPr/>
        </ns0:nvSpPr>
        <ns0:spPr>
          <a:xfrm>
            <a:off x="6953250" y="3000375"/>
            <a:ext cx="57150" cy="1009650"/>
          </a:xfrm>
          <a:prstGeom prst="rect">
            <a:avLst/>
          </a:prstGeom>
          <a:solidFill>
            <a:srgbClr val="1E6B6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5" name="">
            <a:extLst>
              <a:ext uri="{FF2B5EF4-FFF2-40B4-BE49-F238E27FC236}">
                <ns2:creationId id="{D1DD410B-E743-45F0-BA77-4FC9098D5296}"/>
              </a:ext>
            </a:extLst>
          </ns0:cNvPr>
          <ns0:cNvSpPr>
            <a:spLocks noGrp="1"/>
          </ns0:cNvSpPr>
          <ns0:nvPr/>
        </ns0:nvSpPr>
        <ns0:spPr>
          <a:xfrm>
            <a:off x="7162800" y="3171825"/>
            <a:ext cx="3314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接口设计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BAC8E05A-A138-428C-938F-7DD913BC49FE}"/>
              </a:ext>
            </a:extLst>
          </ns0:cNvPr>
          <ns0:cNvSpPr>
            <a:spLocks noGrp="1"/>
          </ns0:cNvSpPr>
          <ns0:nvPr/>
        </ns0:nvSpPr>
        <ns0:spPr>
          <a:xfrm>
            <a:off x="7162800" y="352425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GET 查询，POST 新增，PUT 修改，DELETE 删除，符合常见 REST 风格。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3D4C5127-1D81-41B4-A721-850886719FBE}"/>
              </a:ext>
            </a:extLst>
          </ns0:cNvPr>
          <ns0:cNvSpPr>
            <a:spLocks noGrp="1"/>
          </ns0:cNvSpPr>
          <ns0:nvPr/>
        </ns0:nvSpPr>
        <ns0:spPr>
          <a:xfrm>
            <a:off x="6953250" y="4286250"/>
            <a:ext cx="3714750" cy="100965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8" name="">
            <a:extLst>
              <a:ext uri="{FF2B5EF4-FFF2-40B4-BE49-F238E27FC236}">
                <ns2:creationId id="{29B383CE-9B79-4C9C-A239-EF0D973FD05E}"/>
              </a:ext>
            </a:extLst>
          </ns0:cNvPr>
          <ns0:cNvSpPr>
            <a:spLocks noGrp="1"/>
          </ns0:cNvSpPr>
          <ns0:nvPr/>
        </ns0:nvSpPr>
        <ns0:spPr>
          <a:xfrm>
            <a:off x="6953250" y="4286250"/>
            <a:ext cx="57150" cy="100965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9" name="">
            <a:extLst>
              <a:ext uri="{FF2B5EF4-FFF2-40B4-BE49-F238E27FC236}">
                <ns2:creationId id="{A595E3CA-7056-437D-A2B3-284A345537D6}"/>
              </a:ext>
            </a:extLst>
          </ns0:cNvPr>
          <ns0:cNvSpPr>
            <a:spLocks noGrp="1"/>
          </ns0:cNvSpPr>
          <ns0:nvPr/>
        </ns0:nvSpPr>
        <ns0:spPr>
          <a:xfrm>
            <a:off x="7162800" y="4457700"/>
            <a:ext cx="3314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安全点</a:t>
            </a:r>
          </a:p>
        </ns0:txBody>
      </ns0:sp>
      <ns0:sp>
        <ns0:nvSpPr>
          <ns0:cNvPr id="30" name="">
            <a:extLst>
              <a:ext uri="{FF2B5EF4-FFF2-40B4-BE49-F238E27FC236}">
                <ns2:creationId id="{B93263C1-883C-4878-B863-33B53A2AE480}"/>
              </a:ext>
            </a:extLst>
          </ns0:cNvPr>
          <ns0:cNvSpPr>
            <a:spLocks noGrp="1"/>
          </ns0:cNvSpPr>
          <ns0:nvPr/>
        </ns0:nvSpPr>
        <ns0:spPr>
          <a:xfrm>
            <a:off x="7162800" y="4810125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除登录接口外，其余接口都先 current_user() 验证 token，避免未登录直接操作。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8F10251B-CDDB-4ED6-B0ED-B3D8411D22DD}"/>
              </a:ext>
            </a:extLst>
          </ns0:cNvPr>
          <ns0:cNvSpPr>
            <a:spLocks noGrp="1"/>
          </ns0:cNvSpPr>
          <ns0:nvPr/>
        </ns0:nvSpPr>
        <ns0:spPr>
          <a:xfrm>
            <a:off x="6953250" y="5619750"/>
            <a:ext cx="3714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这页讲 50 秒：先说明路径分发，再强调鉴权在后端，不只是前端隐藏按钮。</a:t>
            </a:r>
          </a:p>
        </ns0:txBody>
      </ns0:sp>
    </ns0:spTree>
    <ns0:extLst>
      <ns0:ext uri="{BB962C8B-B14F-4D97-AF65-F5344CB8AC3E}">
        <ns3:creationId val="217581826"/>
      </ns0:ext>
    </ns0:extLst>
  </ns0:cSld>
</ns0:sld>
</file>

<file path=ppt/slides/slide9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D0D7B720-1285-497C-A372-5BC20E9A02AF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A0C5B71D-72C7-4395-B753-559A5E1D19D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C92BACD4-5364-4E93-9A8B-3744958DE4A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71450" cy="68580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8AF436A2-243A-4D9D-9C8C-62C743CB76B2}"/>
              </a:ext>
            </a:extLst>
          </ns0:cNvPr>
          <ns0:cNvSpPr>
            <a:spLocks noGrp="1"/>
          </ns0:cNvSpPr>
          <ns0:nvPr/>
        </ns0:nvSpPr>
        <ns0:spPr>
          <a:xfrm>
            <a:off x="171450" y="0"/>
            <a:ext cx="47625" cy="68580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8A285C1E-1B7C-47F7-B60A-48626B36CCAB}"/>
              </a:ext>
            </a:extLst>
          </ns0:cNvPr>
          <ns0:cNvSpPr>
            <a:spLocks noGrp="1"/>
          </ns0:cNvSpPr>
          <ns0:nvPr/>
        </ns0:nvSpPr>
        <ns0:spPr>
          <a:xfrm>
            <a:off x="9810750" y="0"/>
            <a:ext cx="2381250" cy="2381250"/>
          </a:xfrm>
          <a:prstGeom prst="ellipse">
            <a:avLst/>
          </a:prstGeom>
          <a:solidFill>
            <a:srgbClr val="F0D8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BEF409F5-CE9B-4BC0-AE24-2E003D8A1240}"/>
              </a:ext>
            </a:extLst>
          </ns0:cNvPr>
          <ns0:cNvSpPr>
            <a:spLocks noGrp="1"/>
          </ns0:cNvSpPr>
          <ns0:nvPr/>
        </ns0:nvSpPr>
        <ns0:spPr>
          <a:xfrm>
            <a:off x="10191750" y="381000"/>
            <a:ext cx="1638300" cy="1638300"/>
          </a:xfrm>
          <a:prstGeom prst="ellipse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7" name="">
            <a:extLst>
              <a:ext uri="{FF2B5EF4-FFF2-40B4-BE49-F238E27FC236}">
                <ns2:creationId id="{F79FFA64-7D0F-4C81-8E0F-87F256999EE9}"/>
              </a:ext>
            </a:extLst>
          </ns0:cNvPr>
          <ns0:cNvSpPr>
            <a:spLocks noGrp="1"/>
          </ns0:cNvSpPr>
          <ns0:nvPr/>
        </ns0:nvSpPr>
        <ns0:spPr>
          <a:xfrm>
            <a:off x="6096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登录与权限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F15A4F30-38E5-471E-98E8-E4787EB72971}"/>
              </a:ext>
            </a:extLst>
          </ns0:cNvPr>
          <ns0:cNvSpPr>
            <a:spLocks noGrp="1"/>
          </ns0:cNvSpPr>
          <ns0:nvPr/>
        </ns0:nvSpPr>
        <ns0:spPr>
          <a:xfrm>
            <a:off x="609600" y="66675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系统通过密码哈希 + token + 角色控制完成基础安全设计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13364052-A889-4E5F-99A0-F9A43AEC2DEE}"/>
              </a:ext>
            </a:extLst>
          </ns0:cNvPr>
          <ns0:cNvSpPr>
            <a:spLocks noGrp="1"/>
          </ns0:cNvSpPr>
          <ns0:nvPr/>
        </ns0:nvSpPr>
        <ns0:spPr>
          <a:xfrm>
            <a:off x="609600" y="13906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老师问到安全性时，可以重点讲：密码不明文保存，接口不信任前端，权限由后端判断。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EA85524C-198F-46CA-A9C9-603E965AA6E4}"/>
              </a:ext>
            </a:extLst>
          </ns0:cNvPr>
          <ns0:cNvSpPr>
            <a:spLocks noGrp="1"/>
          </ns0:cNvSpPr>
          <ns0:nvPr/>
        </ns0:nvSpPr>
        <ns0:spPr>
          <a:xfrm>
            <a:off x="609600" y="64960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rPr>
              <a:t>酒店客房管理系统 · 数据库与后端答辩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39AD07B9-6103-4237-BF45-CFC4B21D32D0}"/>
              </a:ext>
            </a:extLst>
          </ns0:cNvPr>
          <ns0:cNvSpPr>
            <a:spLocks noGrp="1"/>
          </ns0:cNvSpPr>
          <ns0:nvPr/>
        </ns0:nvSpPr>
        <ns0:spPr>
          <a:xfrm>
            <a:off x="11125200" y="64579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6BDE2787-2512-42EC-9083-6EA9890ECF7A}"/>
              </a:ext>
            </a:extLst>
          </ns0:cNvPr>
          <ns0:cNvSpPr>
            <a:spLocks noGrp="1"/>
          </ns0:cNvSpPr>
          <ns0:nvPr/>
        </ns0:nvSpPr>
        <ns0:spPr>
          <a:xfrm>
            <a:off x="666750" y="1600200"/>
            <a:ext cx="5619750" cy="2857500"/>
          </a:xfrm>
          <a:prstGeom prst="rect">
            <a:avLst/>
          </a:prstGeom>
          <a:solidFill>
            <a:srgbClr val="1B1D22"/>
          </a:solidFill>
          <a:ln w="9525">
            <a:solidFill>
              <a:srgbClr val="333842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4D8C0451-8F80-4510-91D7-9A9AC7E6BB2C}"/>
              </a:ext>
            </a:extLst>
          </ns0:cNvPr>
          <ns0:cNvSpPr>
            <a:spLocks noGrp="1"/>
          </ns0:cNvSpPr>
          <ns0:nvPr/>
        </ns0:nvSpPr>
        <ns0:spPr>
          <a:xfrm>
            <a:off x="666750" y="1600200"/>
            <a:ext cx="5619750" cy="342900"/>
          </a:xfrm>
          <a:prstGeom prst="rect">
            <a:avLst/>
          </a:prstGeom>
          <a:solidFill>
            <a:srgbClr val="2A2D35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1F6AAEAE-9176-4834-8729-9C332B838CDE}"/>
              </a:ext>
            </a:extLst>
          </ns0:cNvPr>
          <ns0:cNvSpPr>
            <a:spLocks noGrp="1"/>
          </ns0:cNvSpPr>
          <ns0:nvPr/>
        </ns0:nvSpPr>
        <ns0:spPr>
          <a:xfrm>
            <a:off x="809625" y="1724025"/>
            <a:ext cx="85725" cy="85725"/>
          </a:xfrm>
          <a:prstGeom prst="ellipse">
            <a:avLst/>
          </a:prstGeom>
          <a:solidFill>
            <a:srgbClr val="D95F5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D208215A-A812-4AA1-B914-6F4BD2BF81BE}"/>
              </a:ext>
            </a:extLst>
          </ns0:cNvPr>
          <ns0:cNvSpPr>
            <a:spLocks noGrp="1"/>
          </ns0:cNvSpPr>
          <ns0:nvPr/>
        </ns0:nvSpPr>
        <ns0:spPr>
          <a:xfrm>
            <a:off x="962025" y="1724025"/>
            <a:ext cx="85725" cy="85725"/>
          </a:xfrm>
          <a:prstGeom prst="ellipse">
            <a:avLst/>
          </a:prstGeom>
          <a:solidFill>
            <a:srgbClr val="E9B84C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D41157FB-2835-4315-8F02-455E250D4631}"/>
              </a:ext>
            </a:extLst>
          </ns0:cNvPr>
          <ns0:cNvSpPr>
            <a:spLocks noGrp="1"/>
          </ns0:cNvSpPr>
          <ns0:nvPr/>
        </ns0:nvSpPr>
        <ns0:spPr>
          <a:xfrm>
            <a:off x="1114425" y="1724025"/>
            <a:ext cx="85725" cy="85725"/>
          </a:xfrm>
          <a:prstGeom prst="ellipse">
            <a:avLst/>
          </a:prstGeom>
          <a:solidFill>
            <a:srgbClr val="63BF68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0F01D980-6654-4504-92F5-67608806A48F}"/>
              </a:ext>
            </a:extLst>
          </ns0:cNvPr>
          <ns0:cNvSpPr>
            <a:spLocks noGrp="1"/>
          </ns0:cNvSpPr>
          <ns0:nvPr/>
        </ns0:nvSpPr>
        <ns0:spPr>
          <a:xfrm>
            <a:off x="1352550" y="1685925"/>
            <a:ext cx="474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75" b="0">
                <a:solidFill>
                  <a:srgbClr val="D7DCE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7DCE5"/>
                </a:solidFill>
                <a:latin typeface="Consolas"/>
                <a:ea typeface="Consolas"/>
                <a:cs typeface="Consolas"/>
              </a:rPr>
              <a:t>核心代码：密码哈希与校验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2BBEC388-00E0-49E1-B2F7-FBC17B2001EB}"/>
              </a:ext>
            </a:extLst>
          </ns0:cNvPr>
          <ns0:cNvSpPr>
            <a:spLocks noGrp="1"/>
          </ns0:cNvSpPr>
          <ns0:nvPr/>
        </ns0:nvSpPr>
        <ns0:spPr>
          <a:xfrm>
            <a:off x="838200" y="2076450"/>
            <a:ext cx="5276850" cy="2286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def hash_password(password, salt=None):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salt = salt or secrets.token_hex(16)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digest = hashlib.pbkdf2_hmac(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"sha256", password.encode("utf-8"),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salt.encode("utf-8"), 120000)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return f"pbkdf2_sha256${salt}${digest.hex()}"</a:t>
            </a:r>
          </a:p>
          <a:p>
            <a:r>
              <a:t/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def verify_password(password, stored):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algo, salt, digest = stored.split("$", 2)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candidate = hash_password(password, salt).split("$", 2)[2]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return hmac.compare_digest(candidate, digest)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B1C52D26-5C5B-4194-A040-13249B22F075}"/>
              </a:ext>
            </a:extLst>
          </ns0:cNvPr>
          <ns0:cNvSpPr>
            <a:spLocks noGrp="1"/>
          </ns0:cNvSpPr>
          <ns0:nvPr/>
        </ns0:nvSpPr>
        <ns0:spPr>
          <a:xfrm>
            <a:off x="6572250" y="1600200"/>
            <a:ext cx="4667250" cy="2857500"/>
          </a:xfrm>
          <a:prstGeom prst="rect">
            <a:avLst/>
          </a:prstGeom>
          <a:solidFill>
            <a:srgbClr val="1B1D22"/>
          </a:solidFill>
          <a:ln w="9525">
            <a:solidFill>
              <a:srgbClr val="333842"/>
            </a:solidFill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66A54A98-F0A5-4C5B-8BEB-97004B1C366A}"/>
              </a:ext>
            </a:extLst>
          </ns0:cNvPr>
          <ns0:cNvSpPr>
            <a:spLocks noGrp="1"/>
          </ns0:cNvSpPr>
          <ns0:nvPr/>
        </ns0:nvSpPr>
        <ns0:spPr>
          <a:xfrm>
            <a:off x="6572250" y="1600200"/>
            <a:ext cx="4667250" cy="342900"/>
          </a:xfrm>
          <a:prstGeom prst="rect">
            <a:avLst/>
          </a:prstGeom>
          <a:solidFill>
            <a:srgbClr val="2A2D35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711F4F8C-DB8B-4BD9-8F39-E96B5282BB07}"/>
              </a:ext>
            </a:extLst>
          </ns0:cNvPr>
          <ns0:cNvSpPr>
            <a:spLocks noGrp="1"/>
          </ns0:cNvSpPr>
          <ns0:nvPr/>
        </ns0:nvSpPr>
        <ns0:spPr>
          <a:xfrm>
            <a:off x="6715125" y="1724025"/>
            <a:ext cx="85725" cy="85725"/>
          </a:xfrm>
          <a:prstGeom prst="ellipse">
            <a:avLst/>
          </a:prstGeom>
          <a:solidFill>
            <a:srgbClr val="D95F5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2" name="">
            <a:extLst>
              <a:ext uri="{FF2B5EF4-FFF2-40B4-BE49-F238E27FC236}">
                <ns2:creationId id="{8315F09B-D40F-4CF0-B621-9F3C359BD282}"/>
              </a:ext>
            </a:extLst>
          </ns0:cNvPr>
          <ns0:cNvSpPr>
            <a:spLocks noGrp="1"/>
          </ns0:cNvSpPr>
          <ns0:nvPr/>
        </ns0:nvSpPr>
        <ns0:spPr>
          <a:xfrm>
            <a:off x="6867525" y="1724025"/>
            <a:ext cx="85725" cy="85725"/>
          </a:xfrm>
          <a:prstGeom prst="ellipse">
            <a:avLst/>
          </a:prstGeom>
          <a:solidFill>
            <a:srgbClr val="E9B84C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3" name="">
            <a:extLst>
              <a:ext uri="{FF2B5EF4-FFF2-40B4-BE49-F238E27FC236}">
                <ns2:creationId id="{8D4A4BDB-70CD-4DBA-900D-2E42173538DF}"/>
              </a:ext>
            </a:extLst>
          </ns0:cNvPr>
          <ns0:cNvSpPr>
            <a:spLocks noGrp="1"/>
          </ns0:cNvSpPr>
          <ns0:nvPr/>
        </ns0:nvSpPr>
        <ns0:spPr>
          <a:xfrm>
            <a:off x="7019925" y="1724025"/>
            <a:ext cx="85725" cy="85725"/>
          </a:xfrm>
          <a:prstGeom prst="ellipse">
            <a:avLst/>
          </a:prstGeom>
          <a:solidFill>
            <a:srgbClr val="63BF68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4" name="">
            <a:extLst>
              <a:ext uri="{FF2B5EF4-FFF2-40B4-BE49-F238E27FC236}">
                <ns2:creationId id="{94D725A5-FD36-4FC9-B56A-E6F497AD7611}"/>
              </a:ext>
            </a:extLst>
          </ns0:cNvPr>
          <ns0:cNvSpPr>
            <a:spLocks noGrp="1"/>
          </ns0:cNvSpPr>
          <ns0:nvPr/>
        </ns0:nvSpPr>
        <ns0:spPr>
          <a:xfrm>
            <a:off x="7258050" y="1685925"/>
            <a:ext cx="3790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75" b="0">
                <a:solidFill>
                  <a:srgbClr val="D7DCE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7DCE5"/>
                </a:solidFill>
                <a:latin typeface="Consolas"/>
                <a:ea typeface="Consolas"/>
                <a:cs typeface="Consolas"/>
              </a:rPr>
              <a:t>核心代码：token 与角色鉴权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38F408CE-1C85-4A39-A79A-368E755F0A03}"/>
              </a:ext>
            </a:extLst>
          </ns0:cNvPr>
          <ns0:cNvSpPr>
            <a:spLocks noGrp="1"/>
          </ns0:cNvSpPr>
          <ns0:nvPr/>
        </ns0:nvSpPr>
        <ns0:spPr>
          <a:xfrm>
            <a:off x="6743700" y="2076450"/>
            <a:ext cx="4324350" cy="2286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def current_user(self):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header = self.headers.get("Authorization", "")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if not header.startswith("Bearer "):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raise ApiError(401, "请先登录系统")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token = header.split(" ", 1)[1].strip()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user = TOKENS.get(token)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if not user: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raise ApiError(401, "登录已失效")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return user</a:t>
            </a:r>
          </a:p>
          <a:p>
            <a:r>
              <a:t/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def require_role(self, user, roles):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if user["role"] != "admin" and user["role"] not in roles: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raise ApiError(403, "当前角色无权限")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36EE075F-46F3-4F15-BE7F-B5327980BAF8}"/>
              </a:ext>
            </a:extLst>
          </ns0:cNvPr>
          <ns0:cNvSpPr>
            <a:spLocks noGrp="1"/>
          </ns0:cNvSpPr>
          <ns0:nvPr/>
        </ns0:nvSpPr>
        <ns0:spPr>
          <a:xfrm>
            <a:off x="952500" y="4953000"/>
            <a:ext cx="2914650" cy="81915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7" name="">
            <a:extLst>
              <a:ext uri="{FF2B5EF4-FFF2-40B4-BE49-F238E27FC236}">
                <ns2:creationId id="{81293F53-F88D-4455-BB26-A1E9A81D48AA}"/>
              </a:ext>
            </a:extLst>
          </ns0:cNvPr>
          <ns0:cNvSpPr>
            <a:spLocks noGrp="1"/>
          </ns0:cNvSpPr>
          <ns0:nvPr/>
        </ns0:nvSpPr>
        <ns0:spPr>
          <a:xfrm>
            <a:off x="952500" y="4953000"/>
            <a:ext cx="57150" cy="81915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8" name="">
            <a:extLst>
              <a:ext uri="{FF2B5EF4-FFF2-40B4-BE49-F238E27FC236}">
                <ns2:creationId id="{9ABD9C78-3C08-4B28-A658-B346E6855266}"/>
              </a:ext>
            </a:extLst>
          </ns0:cNvPr>
          <ns0:cNvSpPr>
            <a:spLocks noGrp="1"/>
          </ns0:cNvSpPr>
          <ns0:nvPr/>
        </ns0:nvSpPr>
        <ns0:spPr>
          <a:xfrm>
            <a:off x="1162050" y="5124450"/>
            <a:ext cx="2514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管理员 admin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79035913-613E-4B49-AC2E-B001CA6CD0E0}"/>
              </a:ext>
            </a:extLst>
          </ns0:cNvPr>
          <ns0:cNvSpPr>
            <a:spLocks noGrp="1"/>
          </ns0:cNvSpPr>
          <ns0:nvPr/>
        </ns0:nvSpPr>
        <ns0:spPr>
          <a:xfrm>
            <a:off x="1162050" y="5476875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账号、基础数据、审计日志</a:t>
            </a:r>
          </a:p>
        </ns0:txBody>
      </ns0:sp>
      <ns0:sp>
        <ns0:nvSpPr>
          <ns0:cNvPr id="30" name="">
            <a:extLst>
              <a:ext uri="{FF2B5EF4-FFF2-40B4-BE49-F238E27FC236}">
                <ns2:creationId id="{25DB7F6D-A2E5-42FE-8C8E-4701DDC8BC48}"/>
              </a:ext>
            </a:extLst>
          </ns0:cNvPr>
          <ns0:cNvSpPr>
            <a:spLocks noGrp="1"/>
          </ns0:cNvSpPr>
          <ns0:nvPr/>
        </ns0:nvSpPr>
        <ns0:spPr>
          <a:xfrm>
            <a:off x="4229100" y="4953000"/>
            <a:ext cx="2914650" cy="81915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31" name="">
            <a:extLst>
              <a:ext uri="{FF2B5EF4-FFF2-40B4-BE49-F238E27FC236}">
                <ns2:creationId id="{E3289EAE-9234-4B36-AC96-30237E567E25}"/>
              </a:ext>
            </a:extLst>
          </ns0:cNvPr>
          <ns0:cNvSpPr>
            <a:spLocks noGrp="1"/>
          </ns0:cNvSpPr>
          <ns0:nvPr/>
        </ns0:nvSpPr>
        <ns0:spPr>
          <a:xfrm>
            <a:off x="4229100" y="4953000"/>
            <a:ext cx="57150" cy="819150"/>
          </a:xfrm>
          <a:prstGeom prst="rect">
            <a:avLst/>
          </a:prstGeom>
          <a:solidFill>
            <a:srgbClr val="1E6B6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2" name="">
            <a:extLst>
              <a:ext uri="{FF2B5EF4-FFF2-40B4-BE49-F238E27FC236}">
                <ns2:creationId id="{3AC1583D-97FC-40B3-9D32-C5EF0BBD9511}"/>
              </a:ext>
            </a:extLst>
          </ns0:cNvPr>
          <ns0:cNvSpPr>
            <a:spLocks noGrp="1"/>
          </ns0:cNvSpPr>
          <ns0:nvPr/>
        </ns0:nvSpPr>
        <ns0:spPr>
          <a:xfrm>
            <a:off x="4438650" y="5124450"/>
            <a:ext cx="2514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前台 frontdesk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2E77F633-9956-4FE7-9729-A07623FBC0FD}"/>
              </a:ext>
            </a:extLst>
          </ns0:cNvPr>
          <ns0:cNvSpPr>
            <a:spLocks noGrp="1"/>
          </ns0:cNvSpPr>
          <ns0:nvPr/>
        </ns0:nvSpPr>
        <ns0:spPr>
          <a:xfrm>
            <a:off x="4438650" y="5476875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预约、入住、客户登记</a:t>
            </a:r>
          </a:p>
        </ns0:txBody>
      </ns0:sp>
      <ns0:sp>
        <ns0:nvSpPr>
          <ns0:cNvPr id="34" name="">
            <a:extLst>
              <a:ext uri="{FF2B5EF4-FFF2-40B4-BE49-F238E27FC236}">
                <ns2:creationId id="{6AA21621-3AE1-494D-B8CB-D8207541B1DB}"/>
              </a:ext>
            </a:extLst>
          </ns0:cNvPr>
          <ns0:cNvSpPr>
            <a:spLocks noGrp="1"/>
          </ns0:cNvSpPr>
          <ns0:nvPr/>
        </ns0:nvSpPr>
        <ns0:spPr>
          <a:xfrm>
            <a:off x="7505700" y="4953000"/>
            <a:ext cx="2914650" cy="81915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35" name="">
            <a:extLst>
              <a:ext uri="{FF2B5EF4-FFF2-40B4-BE49-F238E27FC236}">
                <ns2:creationId id="{317BE752-F15A-45A0-9B68-C009AD7C5321}"/>
              </a:ext>
            </a:extLst>
          </ns0:cNvPr>
          <ns0:cNvSpPr>
            <a:spLocks noGrp="1"/>
          </ns0:cNvSpPr>
          <ns0:nvPr/>
        </ns0:nvSpPr>
        <ns0:spPr>
          <a:xfrm>
            <a:off x="7505700" y="4953000"/>
            <a:ext cx="57150" cy="81915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0FF3E945-A23D-4BCA-BA6E-8BC80293A836}"/>
              </a:ext>
            </a:extLst>
          </ns0:cNvPr>
          <ns0:cNvSpPr>
            <a:spLocks noGrp="1"/>
          </ns0:cNvSpPr>
          <ns0:nvPr/>
        </ns0:nvSpPr>
        <ns0:spPr>
          <a:xfrm>
            <a:off x="7715250" y="5124450"/>
            <a:ext cx="2514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财务 finance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19A1D23D-5296-4BF8-B35F-DB9A045988B6}"/>
              </a:ext>
            </a:extLst>
          </ns0:cNvPr>
          <ns0:cNvSpPr>
            <a:spLocks noGrp="1"/>
          </ns0:cNvSpPr>
          <ns0:nvPr/>
        </ns0:nvSpPr>
        <ns0:spPr>
          <a:xfrm>
            <a:off x="7715250" y="5476875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额外消费、退房结算</a:t>
            </a:r>
          </a:p>
        </ns0:txBody>
      </ns0:sp>
    </ns0:spTree>
    <ns0:extLst>
      <ns0:ext uri="{BB962C8B-B14F-4D97-AF65-F5344CB8AC3E}">
        <ns3:creationId val="18743075"/>
      </ns0:ext>
    </ns0:extLst>
  </ns0:cSld>
</ns0:sld>
</file>

<file path=ppt/slides/slide10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A9C56C6D-239D-4266-A7C3-244515D2E270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0174982E-4BC2-482C-8095-2C9A705AABB6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29551B41-DD69-46A6-9FAA-BDB4E3DABD6F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71450" cy="68580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4F9D931F-0F27-463B-B114-9B2194BF65F1}"/>
              </a:ext>
            </a:extLst>
          </ns0:cNvPr>
          <ns0:cNvSpPr>
            <a:spLocks noGrp="1"/>
          </ns0:cNvSpPr>
          <ns0:nvPr/>
        </ns0:nvSpPr>
        <ns0:spPr>
          <a:xfrm>
            <a:off x="171450" y="0"/>
            <a:ext cx="47625" cy="68580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C39DCF08-2AFC-4511-AF24-AF7B4306A648}"/>
              </a:ext>
            </a:extLst>
          </ns0:cNvPr>
          <ns0:cNvSpPr>
            <a:spLocks noGrp="1"/>
          </ns0:cNvSpPr>
          <ns0:nvPr/>
        </ns0:nvSpPr>
        <ns0:spPr>
          <a:xfrm>
            <a:off x="9810750" y="0"/>
            <a:ext cx="2381250" cy="2381250"/>
          </a:xfrm>
          <a:prstGeom prst="ellipse">
            <a:avLst/>
          </a:prstGeom>
          <a:solidFill>
            <a:srgbClr val="F0D8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C955041E-9E56-4E69-BBEA-6DAE2E984934}"/>
              </a:ext>
            </a:extLst>
          </ns0:cNvPr>
          <ns0:cNvSpPr>
            <a:spLocks noGrp="1"/>
          </ns0:cNvSpPr>
          <ns0:nvPr/>
        </ns0:nvSpPr>
        <ns0:spPr>
          <a:xfrm>
            <a:off x="10191750" y="381000"/>
            <a:ext cx="1638300" cy="1638300"/>
          </a:xfrm>
          <a:prstGeom prst="ellipse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7" name="">
            <a:extLst>
              <a:ext uri="{FF2B5EF4-FFF2-40B4-BE49-F238E27FC236}">
                <ns2:creationId id="{809DAED3-DD7B-4BF8-A4FA-F9469E744E49}"/>
              </a:ext>
            </a:extLst>
          </ns0:cNvPr>
          <ns0:cNvSpPr>
            <a:spLocks noGrp="1"/>
          </ns0:cNvSpPr>
          <ns0:nvPr/>
        </ns0:nvSpPr>
        <ns0:spPr>
          <a:xfrm>
            <a:off x="6096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客户信息校验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AB6D77F2-518C-426A-AC1C-A6B4AA247B60}"/>
              </a:ext>
            </a:extLst>
          </ns0:cNvPr>
          <ns0:cNvSpPr>
            <a:spLocks noGrp="1"/>
          </ns0:cNvSpPr>
          <ns0:nvPr/>
        </ns0:nvSpPr>
        <ns0:spPr>
          <a:xfrm>
            <a:off x="609600" y="66675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身份证、手机号、姓名采用前后端双重校验，减少错误档案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D436F213-5103-4F30-9AAA-4E15FD32037A}"/>
              </a:ext>
            </a:extLst>
          </ns0:cNvPr>
          <ns0:cNvSpPr>
            <a:spLocks noGrp="1"/>
          </ns0:cNvSpPr>
          <ns0:nvPr/>
        </ns0:nvSpPr>
        <ns0:spPr>
          <a:xfrm>
            <a:off x="609600" y="13906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这也是你项目里比较容易打动老师的细节：不是只检查长度，而是检查真实身份证格式。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75B141E4-935B-4EEF-875F-F3CB1712D7FD}"/>
              </a:ext>
            </a:extLst>
          </ns0:cNvPr>
          <ns0:cNvSpPr>
            <a:spLocks noGrp="1"/>
          </ns0:cNvSpPr>
          <ns0:nvPr/>
        </ns0:nvSpPr>
        <ns0:spPr>
          <a:xfrm>
            <a:off x="609600" y="64960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rPr>
              <a:t>酒店客房管理系统 · 数据库与后端答辩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22F1F5A9-8BC9-4D03-BFEA-1FB97D6777F0}"/>
              </a:ext>
            </a:extLst>
          </ns0:cNvPr>
          <ns0:cNvSpPr>
            <a:spLocks noGrp="1"/>
          </ns0:cNvSpPr>
          <ns0:nvPr/>
        </ns0:nvSpPr>
        <ns0:spPr>
          <a:xfrm>
            <a:off x="11125200" y="64579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5DBCFBDE-72A8-43E4-BFDB-C732820B46F3}"/>
              </a:ext>
            </a:extLst>
          </ns0:cNvPr>
          <ns0:cNvSpPr>
            <a:spLocks noGrp="1"/>
          </ns0:cNvSpPr>
          <ns0:nvPr/>
        </ns0:nvSpPr>
        <ns0:spPr>
          <a:xfrm>
            <a:off x="666750" y="1581150"/>
            <a:ext cx="6286500" cy="3857625"/>
          </a:xfrm>
          <a:prstGeom prst="rect">
            <a:avLst/>
          </a:prstGeom>
          <a:solidFill>
            <a:srgbClr val="1B1D22"/>
          </a:solidFill>
          <a:ln w="9525">
            <a:solidFill>
              <a:srgbClr val="333842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E54D0349-28FA-40B4-BCC3-031A302CCCE9}"/>
              </a:ext>
            </a:extLst>
          </ns0:cNvPr>
          <ns0:cNvSpPr>
            <a:spLocks noGrp="1"/>
          </ns0:cNvSpPr>
          <ns0:nvPr/>
        </ns0:nvSpPr>
        <ns0:spPr>
          <a:xfrm>
            <a:off x="666750" y="1581150"/>
            <a:ext cx="6286500" cy="342900"/>
          </a:xfrm>
          <a:prstGeom prst="rect">
            <a:avLst/>
          </a:prstGeom>
          <a:solidFill>
            <a:srgbClr val="2A2D35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D8C0B206-0FA7-4E77-9BB3-FF8D4CEEEC74}"/>
              </a:ext>
            </a:extLst>
          </ns0:cNvPr>
          <ns0:cNvSpPr>
            <a:spLocks noGrp="1"/>
          </ns0:cNvSpPr>
          <ns0:nvPr/>
        </ns0:nvSpPr>
        <ns0:spPr>
          <a:xfrm>
            <a:off x="809625" y="1704975"/>
            <a:ext cx="85725" cy="85725"/>
          </a:xfrm>
          <a:prstGeom prst="ellipse">
            <a:avLst/>
          </a:prstGeom>
          <a:solidFill>
            <a:srgbClr val="D95F5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C0345399-4254-4213-B87C-2399BE7724E9}"/>
              </a:ext>
            </a:extLst>
          </ns0:cNvPr>
          <ns0:cNvSpPr>
            <a:spLocks noGrp="1"/>
          </ns0:cNvSpPr>
          <ns0:nvPr/>
        </ns0:nvSpPr>
        <ns0:spPr>
          <a:xfrm>
            <a:off x="962025" y="1704975"/>
            <a:ext cx="85725" cy="85725"/>
          </a:xfrm>
          <a:prstGeom prst="ellipse">
            <a:avLst/>
          </a:prstGeom>
          <a:solidFill>
            <a:srgbClr val="E9B84C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21FDA9D4-3EEB-4109-BF54-74246AC70857}"/>
              </a:ext>
            </a:extLst>
          </ns0:cNvPr>
          <ns0:cNvSpPr>
            <a:spLocks noGrp="1"/>
          </ns0:cNvSpPr>
          <ns0:nvPr/>
        </ns0:nvSpPr>
        <ns0:spPr>
          <a:xfrm>
            <a:off x="1114425" y="1704975"/>
            <a:ext cx="85725" cy="85725"/>
          </a:xfrm>
          <a:prstGeom prst="ellipse">
            <a:avLst/>
          </a:prstGeom>
          <a:solidFill>
            <a:srgbClr val="63BF68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B9711FA4-DAF7-4BCB-9555-9589141D5642}"/>
              </a:ext>
            </a:extLst>
          </ns0:cNvPr>
          <ns0:cNvSpPr>
            <a:spLocks noGrp="1"/>
          </ns0:cNvSpPr>
          <ns0:nvPr/>
        </ns0:nvSpPr>
        <ns0:spPr>
          <a:xfrm>
            <a:off x="1352550" y="1666875"/>
            <a:ext cx="5410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75" b="0">
                <a:solidFill>
                  <a:srgbClr val="D7DCE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7DCE5"/>
                </a:solidFill>
                <a:latin typeface="Consolas"/>
                <a:ea typeface="Consolas"/>
                <a:cs typeface="Consolas"/>
              </a:rPr>
              <a:t>后端校验：格式、生日、年龄、校验码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018415E2-B94F-4C51-B90F-AB2DA2B1E566}"/>
              </a:ext>
            </a:extLst>
          </ns0:cNvPr>
          <ns0:cNvSpPr>
            <a:spLocks noGrp="1"/>
          </ns0:cNvSpPr>
          <ns0:nvPr/>
        </ns0:nvSpPr>
        <ns0:spPr>
          <a:xfrm>
            <a:off x="838200" y="2057400"/>
            <a:ext cx="5943600" cy="3286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ID_CARD_RE = re.compile(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r"^[1-9]\d{5}(18|19|20)\d{2}...\d{3}[\dX]$"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r>
              <a:t/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def validate_id_card(value):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id_card = str(value).strip().upper()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if not ID_CARD_RE.match(id_card):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raise ApiError(400, "身份证格式不正确")</a:t>
            </a:r>
          </a:p>
          <a:p>
            <a:r>
              <a:t/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birth_date = datetime.strptime(id_card[6:14], "%Y%m%d").date()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if birth_date &gt; date.today():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raise ApiError(400, "出生日期不能晚于今天")</a:t>
            </a:r>
          </a:p>
          <a:p>
            <a:r>
              <a:t/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check_sum = sum(int(id_card[i]) * ID_CARD_WEIGHTS[i]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            for i in range(17))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expected = ID_CARD_CHECK_CODES[check_sum % 11]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if id_card[-1] != expected: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raise ApiError(400, "校验码不正确")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C7940ED1-35D7-4AA7-B8A7-FF5D1F9991FB}"/>
              </a:ext>
            </a:extLst>
          </ns0:cNvPr>
          <ns0:cNvSpPr>
            <a:spLocks noGrp="1"/>
          </ns0:cNvSpPr>
          <ns0:nvPr/>
        </ns0:nvSpPr>
        <ns0:spPr>
          <a:xfrm>
            <a:off x="7334250" y="1733550"/>
            <a:ext cx="3333750" cy="9525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09108F7E-547D-4F02-92AF-839105F2EAD3}"/>
              </a:ext>
            </a:extLst>
          </ns0:cNvPr>
          <ns0:cNvSpPr>
            <a:spLocks noGrp="1"/>
          </ns0:cNvSpPr>
          <ns0:nvPr/>
        </ns0:nvSpPr>
        <ns0:spPr>
          <a:xfrm>
            <a:off x="7334250" y="1733550"/>
            <a:ext cx="57150" cy="952500"/>
          </a:xfrm>
          <a:prstGeom prst="rect">
            <a:avLst/>
          </a:prstGeom>
          <a:solidFill>
            <a:srgbClr val="1E6B6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66718B31-7FE1-40B1-AAFA-0DA82FF8E79D}"/>
              </a:ext>
            </a:extLst>
          </ns0:cNvPr>
          <ns0:cNvSpPr>
            <a:spLocks noGrp="1"/>
          </ns0:cNvSpPr>
          <ns0:nvPr/>
        </ns0:nvSpPr>
        <ns0:spPr>
          <a:xfrm>
            <a:off x="7543800" y="1905000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第一层：前端即时提醒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A92C4D2E-BD36-4806-ABB4-7B63CA039C28}"/>
              </a:ext>
            </a:extLst>
          </ns0:cNvPr>
          <ns0:cNvSpPr>
            <a:spLocks noGrp="1"/>
          </ns0:cNvSpPr>
          <ns0:nvPr/>
        </ns0:nvSpPr>
        <ns0:spPr>
          <a:xfrm>
            <a:off x="7543800" y="2257425"/>
            <a:ext cx="2933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用户刚输入错误身份证、手机号时，页面直接提示，不用等提交到数据库。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BDD9D3D5-84B8-4B93-BE41-F493168F6078}"/>
              </a:ext>
            </a:extLst>
          </ns0:cNvPr>
          <ns0:cNvSpPr>
            <a:spLocks noGrp="1"/>
          </ns0:cNvSpPr>
          <ns0:nvPr/>
        </ns0:nvSpPr>
        <ns0:spPr>
          <a:xfrm>
            <a:off x="7334250" y="3000375"/>
            <a:ext cx="3333750" cy="9525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4" name="">
            <a:extLst>
              <a:ext uri="{FF2B5EF4-FFF2-40B4-BE49-F238E27FC236}">
                <ns2:creationId id="{43F75AE0-CD9E-484F-9937-C88709A592D2}"/>
              </a:ext>
            </a:extLst>
          </ns0:cNvPr>
          <ns0:cNvSpPr>
            <a:spLocks noGrp="1"/>
          </ns0:cNvSpPr>
          <ns0:nvPr/>
        </ns0:nvSpPr>
        <ns0:spPr>
          <a:xfrm>
            <a:off x="7334250" y="3000375"/>
            <a:ext cx="57150" cy="9525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5" name="">
            <a:extLst>
              <a:ext uri="{FF2B5EF4-FFF2-40B4-BE49-F238E27FC236}">
                <ns2:creationId id="{BCB8154B-3973-45A3-9A19-F08F0E293AF0}"/>
              </a:ext>
            </a:extLst>
          </ns0:cNvPr>
          <ns0:cNvSpPr>
            <a:spLocks noGrp="1"/>
          </ns0:cNvSpPr>
          <ns0:nvPr/>
        </ns0:nvSpPr>
        <ns0:spPr>
          <a:xfrm>
            <a:off x="7543800" y="3171825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第二层：后端强制校验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F5F34C3F-60CD-4E0B-B58C-9D7AA9B30943}"/>
              </a:ext>
            </a:extLst>
          </ns0:cNvPr>
          <ns0:cNvSpPr>
            <a:spLocks noGrp="1"/>
          </ns0:cNvSpPr>
          <ns0:nvPr/>
        </ns0:nvSpPr>
        <ns0:spPr>
          <a:xfrm>
            <a:off x="7543800" y="3524250"/>
            <a:ext cx="2933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即使绕过前端直接请求 API，后端仍会拒绝非法数据。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DCDAEAFB-1CC1-4C13-BB2E-9E13AC98A9D6}"/>
              </a:ext>
            </a:extLst>
          </ns0:cNvPr>
          <ns0:cNvSpPr>
            <a:spLocks noGrp="1"/>
          </ns0:cNvSpPr>
          <ns0:nvPr/>
        </ns0:nvSpPr>
        <ns0:spPr>
          <a:xfrm>
            <a:off x="7334250" y="4267200"/>
            <a:ext cx="3333750" cy="9525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8" name="">
            <a:extLst>
              <a:ext uri="{FF2B5EF4-FFF2-40B4-BE49-F238E27FC236}">
                <ns2:creationId id="{50658B02-4363-41AB-80FB-03F13821E437}"/>
              </a:ext>
            </a:extLst>
          </ns0:cNvPr>
          <ns0:cNvSpPr>
            <a:spLocks noGrp="1"/>
          </ns0:cNvSpPr>
          <ns0:nvPr/>
        </ns0:nvSpPr>
        <ns0:spPr>
          <a:xfrm>
            <a:off x="7334250" y="4267200"/>
            <a:ext cx="57150" cy="9525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9" name="">
            <a:extLst>
              <a:ext uri="{FF2B5EF4-FFF2-40B4-BE49-F238E27FC236}">
                <ns2:creationId id="{28C0A314-46F6-44CC-87A1-6C8BA703AA3F}"/>
              </a:ext>
            </a:extLst>
          </ns0:cNvPr>
          <ns0:cNvSpPr>
            <a:spLocks noGrp="1"/>
          </ns0:cNvSpPr>
          <ns0:nvPr/>
        </ns0:nvSpPr>
        <ns0:spPr>
          <a:xfrm>
            <a:off x="7543800" y="4438650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第三层：数据库兜底</a:t>
            </a:r>
          </a:p>
        </ns0:txBody>
      </ns0:sp>
      <ns0:sp>
        <ns0:nvSpPr>
          <ns0:cNvPr id="30" name="">
            <a:extLst>
              <a:ext uri="{FF2B5EF4-FFF2-40B4-BE49-F238E27FC236}">
                <ns2:creationId id="{23F55375-431A-406D-9F4A-F650B392FC11}"/>
              </a:ext>
            </a:extLst>
          </ns0:cNvPr>
          <ns0:cNvSpPr>
            <a:spLocks noGrp="1"/>
          </ns0:cNvSpPr>
          <ns0:nvPr/>
        </ns0:nvSpPr>
        <ns0:spPr>
          <a:xfrm>
            <a:off x="7543800" y="4791075"/>
            <a:ext cx="2933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身份证字段 UNIQUE，防止同一客户重复建档。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0FE36C58-E521-499A-B310-3E0DCA74200B}"/>
              </a:ext>
            </a:extLst>
          </ns0:cNvPr>
          <ns0:cNvSpPr>
            <a:spLocks noGrp="1"/>
          </ns0:cNvSpPr>
          <ns0:nvPr/>
        </ns0:nvSpPr>
        <ns0:spPr>
          <a:xfrm>
            <a:off x="7334250" y="5619750"/>
            <a:ext cx="342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00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答辩讲法：格式检查不只改善体验，还能提高数据库质量。</a:t>
            </a:r>
          </a:p>
        </ns0:txBody>
      </ns0:sp>
    </ns0:spTree>
    <ns0:extLst>
      <ns0:ext uri="{BB962C8B-B14F-4D97-AF65-F5344CB8AC3E}">
        <ns3:creationId val="400420404"/>
      </ns0:ext>
    </ns0:extLst>
  </ns0:cSld>
</ns0:sld>
</file>

<file path=ppt/slides/slide1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5A9CDCBB-43C5-474D-8AAE-D9BC7C3A18DB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5FF801CC-39E9-49AB-A883-E74DBC26B20A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6DCB64C8-8437-4573-950C-033B068D4D49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71450" cy="68580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05EC17A9-ED47-46A5-87B2-18B92CED9A03}"/>
              </a:ext>
            </a:extLst>
          </ns0:cNvPr>
          <ns0:cNvSpPr>
            <a:spLocks noGrp="1"/>
          </ns0:cNvSpPr>
          <ns0:nvPr/>
        </ns0:nvSpPr>
        <ns0:spPr>
          <a:xfrm>
            <a:off x="171450" y="0"/>
            <a:ext cx="47625" cy="68580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73183CFD-1740-4233-B8B5-49F8D93861B9}"/>
              </a:ext>
            </a:extLst>
          </ns0:cNvPr>
          <ns0:cNvSpPr>
            <a:spLocks noGrp="1"/>
          </ns0:cNvSpPr>
          <ns0:nvPr/>
        </ns0:nvSpPr>
        <ns0:spPr>
          <a:xfrm>
            <a:off x="9810750" y="0"/>
            <a:ext cx="2381250" cy="2381250"/>
          </a:xfrm>
          <a:prstGeom prst="ellipse">
            <a:avLst/>
          </a:prstGeom>
          <a:solidFill>
            <a:srgbClr val="F0D8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DEF48E59-93A2-4A38-9DA2-D6F84DDDE9E0}"/>
              </a:ext>
            </a:extLst>
          </ns0:cNvPr>
          <ns0:cNvSpPr>
            <a:spLocks noGrp="1"/>
          </ns0:cNvSpPr>
          <ns0:nvPr/>
        </ns0:nvSpPr>
        <ns0:spPr>
          <a:xfrm>
            <a:off x="10191750" y="381000"/>
            <a:ext cx="1638300" cy="1638300"/>
          </a:xfrm>
          <a:prstGeom prst="ellipse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7" name="">
            <a:extLst>
              <a:ext uri="{FF2B5EF4-FFF2-40B4-BE49-F238E27FC236}">
                <ns2:creationId id="{8753E2F0-E7AE-4ADD-80FB-284894BDB9C6}"/>
              </a:ext>
            </a:extLst>
          </ns0:cNvPr>
          <ns0:cNvSpPr>
            <a:spLocks noGrp="1"/>
          </ns0:cNvSpPr>
          <ns0:nvPr/>
        </ns0:nvSpPr>
        <ns0:spPr>
          <a:xfrm>
            <a:off x="6096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入住与房态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B133F891-47E4-420A-9756-9AB7D8FE773A}"/>
              </a:ext>
            </a:extLst>
          </ns0:cNvPr>
          <ns0:cNvSpPr>
            <a:spLocks noGrp="1"/>
          </ns0:cNvSpPr>
          <ns0:nvPr/>
        </ns0:nvSpPr>
        <ns0:spPr>
          <a:xfrm>
            <a:off x="609600" y="66675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入住流程使用事务，确保“入住单”和“房态”同步变化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CFDA9FC6-1838-4F79-968E-6034E7FF21EC}"/>
              </a:ext>
            </a:extLst>
          </ns0:cNvPr>
          <ns0:cNvSpPr>
            <a:spLocks noGrp="1"/>
          </ns0:cNvSpPr>
          <ns0:nvPr/>
        </ns0:nvSpPr>
        <ns0:spPr>
          <a:xfrm>
            <a:off x="609600" y="13906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如果中间某一步失败，数据库会回滚，不会出现入住单成功但房态没变的情况。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20E096C3-1059-4E95-994C-A7CD30EA0750}"/>
              </a:ext>
            </a:extLst>
          </ns0:cNvPr>
          <ns0:cNvSpPr>
            <a:spLocks noGrp="1"/>
          </ns0:cNvSpPr>
          <ns0:nvPr/>
        </ns0:nvSpPr>
        <ns0:spPr>
          <a:xfrm>
            <a:off x="609600" y="64960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rPr>
              <a:t>酒店客房管理系统 · 数据库与后端答辩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BD17BB11-2E26-455B-95AF-7EE2A582AA91}"/>
              </a:ext>
            </a:extLst>
          </ns0:cNvPr>
          <ns0:cNvSpPr>
            <a:spLocks noGrp="1"/>
          </ns0:cNvSpPr>
          <ns0:nvPr/>
        </ns0:nvSpPr>
        <ns0:spPr>
          <a:xfrm>
            <a:off x="11125200" y="64579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EF30EFB9-D4D8-4D6D-B5DA-D80240FBEF54}"/>
              </a:ext>
            </a:extLst>
          </ns0:cNvPr>
          <ns0:cNvSpPr>
            <a:spLocks noGrp="1"/>
          </ns0:cNvSpPr>
          <ns0:nvPr/>
        </ns0:nvSpPr>
        <ns0:spPr>
          <a:xfrm>
            <a:off x="609600" y="1619250"/>
            <a:ext cx="5381625" cy="4000500"/>
          </a:xfrm>
          <a:prstGeom prst="rect">
            <a:avLst/>
          </a:prstGeom>
          <a:solidFill>
            <a:srgbClr val="1B1D22"/>
          </a:solidFill>
          <a:ln w="9525">
            <a:solidFill>
              <a:srgbClr val="333842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EE8D1979-07D6-4E15-BA91-923F48FE1734}"/>
              </a:ext>
            </a:extLst>
          </ns0:cNvPr>
          <ns0:cNvSpPr>
            <a:spLocks noGrp="1"/>
          </ns0:cNvSpPr>
          <ns0:nvPr/>
        </ns0:nvSpPr>
        <ns0:spPr>
          <a:xfrm>
            <a:off x="609600" y="1619250"/>
            <a:ext cx="5381625" cy="342900"/>
          </a:xfrm>
          <a:prstGeom prst="rect">
            <a:avLst/>
          </a:prstGeom>
          <a:solidFill>
            <a:srgbClr val="2A2D35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8B6D7467-6098-4510-9476-416425672DF0}"/>
              </a:ext>
            </a:extLst>
          </ns0:cNvPr>
          <ns0:cNvSpPr>
            <a:spLocks noGrp="1"/>
          </ns0:cNvSpPr>
          <ns0:nvPr/>
        </ns0:nvSpPr>
        <ns0:spPr>
          <a:xfrm>
            <a:off x="752475" y="1743075"/>
            <a:ext cx="85725" cy="85725"/>
          </a:xfrm>
          <a:prstGeom prst="ellipse">
            <a:avLst/>
          </a:prstGeom>
          <a:solidFill>
            <a:srgbClr val="D95F5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7C214171-F6B1-4EBF-AB6A-B307A478AD36}"/>
              </a:ext>
            </a:extLst>
          </ns0:cNvPr>
          <ns0:cNvSpPr>
            <a:spLocks noGrp="1"/>
          </ns0:cNvSpPr>
          <ns0:nvPr/>
        </ns0:nvSpPr>
        <ns0:spPr>
          <a:xfrm>
            <a:off x="904875" y="1743075"/>
            <a:ext cx="85725" cy="85725"/>
          </a:xfrm>
          <a:prstGeom prst="ellipse">
            <a:avLst/>
          </a:prstGeom>
          <a:solidFill>
            <a:srgbClr val="E9B84C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58530156-B818-48CB-B29B-F5B4FFB174AD}"/>
              </a:ext>
            </a:extLst>
          </ns0:cNvPr>
          <ns0:cNvSpPr>
            <a:spLocks noGrp="1"/>
          </ns0:cNvSpPr>
          <ns0:nvPr/>
        </ns0:nvSpPr>
        <ns0:spPr>
          <a:xfrm>
            <a:off x="1057275" y="1743075"/>
            <a:ext cx="85725" cy="85725"/>
          </a:xfrm>
          <a:prstGeom prst="ellipse">
            <a:avLst/>
          </a:prstGeom>
          <a:solidFill>
            <a:srgbClr val="63BF68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F0132F2E-04B9-4DAE-A38A-2F1103A324EE}"/>
              </a:ext>
            </a:extLst>
          </ns0:cNvPr>
          <ns0:cNvSpPr>
            <a:spLocks noGrp="1"/>
          </ns0:cNvSpPr>
          <ns0:nvPr/>
        </ns0:nvSpPr>
        <ns0:spPr>
          <a:xfrm>
            <a:off x="1295400" y="1704975"/>
            <a:ext cx="450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75" b="0">
                <a:solidFill>
                  <a:srgbClr val="D7DCE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7DCE5"/>
                </a:solidFill>
                <a:latin typeface="Consolas"/>
                <a:ea typeface="Consolas"/>
                <a:cs typeface="Consolas"/>
              </a:rPr>
              <a:t>核心代码：办理入住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82D2C8AB-DFA4-425D-840D-8ED6CA06C1D1}"/>
              </a:ext>
            </a:extLst>
          </ns0:cNvPr>
          <ns0:cNvSpPr>
            <a:spLocks noGrp="1"/>
          </ns0:cNvSpPr>
          <ns0:nvPr/>
        </ns0:nvSpPr>
        <ns0:spPr>
          <a:xfrm>
            <a:off x="781050" y="2095500"/>
            <a:ext cx="5038725" cy="342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def create_checkin(self, user):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self.require_role(user, {"frontdesk"})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data = self.read_json()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with connect() as conn: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conn.execute("BEGIN IMMEDIATE")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customer_id = create_or_update_customer(conn, data["customer"], user["id"])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cursor = conn.execute(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  "INSERT INTO stays(...) VALUES (...)"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if reservation_id: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    conn.execute("UPDATE reservations SET status='checked_in' WHERE id=?")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update_room_status(conn, room_id)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log_action(conn, "create", "stay", cursor.lastrowid, "办理入住", user["id"])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        conn.commit()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06EE366F-B753-4CF1-B4D4-F448F2B7DD5B}"/>
              </a:ext>
            </a:extLst>
          </ns0:cNvPr>
          <ns0:cNvSpPr>
            <a:spLocks noGrp="1"/>
          </ns0:cNvSpPr>
          <ns0:nvPr/>
        </ns0:nvSpPr>
        <ns0:spPr>
          <a:xfrm>
            <a:off x="6667500" y="1809750"/>
            <a:ext cx="1219200" cy="495300"/>
          </a:xfrm>
          <a:prstGeom prst="rect">
            <a:avLst/>
          </a:prstGeom>
          <a:solidFill>
            <a:srgbClr val="FFFDF9"/>
          </a:solidFill>
          <a:ln w="14288">
            <a:solidFill>
              <a:srgbClr val="7E1F2F"/>
            </a:solidFill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E54747D5-8EF8-470C-ADD3-845DA07D6A80}"/>
              </a:ext>
            </a:extLst>
          </ns0:cNvPr>
          <ns0:cNvSpPr>
            <a:spLocks noGrp="1"/>
          </ns0:cNvSpPr>
          <ns0:nvPr/>
        </ns0:nvSpPr>
        <ns0:spPr>
          <a:xfrm>
            <a:off x="6743700" y="194310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提交入住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991060EF-538C-4182-9DA4-C9589783C887}"/>
              </a:ext>
            </a:extLst>
          </ns0:cNvPr>
          <ns0:cNvSpPr>
            <a:spLocks noGrp="1"/>
          </ns0:cNvSpPr>
          <ns0:nvPr/>
        </ns0:nvSpPr>
        <ns0:spPr>
          <a:xfrm>
            <a:off x="6667500" y="2714625"/>
            <a:ext cx="1219200" cy="495300"/>
          </a:xfrm>
          <a:prstGeom prst="rect">
            <a:avLst/>
          </a:prstGeom>
          <a:solidFill>
            <a:srgbClr val="FFFDF9"/>
          </a:solidFill>
          <a:ln w="14288">
            <a:solidFill>
              <a:srgbClr val="1E6B66"/>
            </a:solidFill>
            <a:prstDash val="solid"/>
          </a:ln>
        </ns0:spPr>
      </ns0:sp>
      <ns0:sp>
        <ns0:nvSpPr>
          <ns0:cNvPr id="22" name="">
            <a:extLst>
              <a:ext uri="{FF2B5EF4-FFF2-40B4-BE49-F238E27FC236}">
                <ns2:creationId id="{ED9B31EF-D534-4675-A1AD-59DFFE82885C}"/>
              </a:ext>
            </a:extLst>
          </ns0:cNvPr>
          <ns0:cNvSpPr>
            <a:spLocks noGrp="1"/>
          </ns0:cNvSpPr>
          <ns0:nvPr/>
        </ns0:nvSpPr>
        <ns0:spPr>
          <a:xfrm>
            <a:off x="6743700" y="2847975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客户建档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85E52AEB-6542-4342-8547-7D21691D4766}"/>
              </a:ext>
            </a:extLst>
          </ns0:cNvPr>
          <ns0:cNvSpPr>
            <a:spLocks noGrp="1"/>
          </ns0:cNvSpPr>
          <ns0:nvPr/>
        </ns0:nvSpPr>
        <ns0:spPr>
          <a:xfrm>
            <a:off x="6667500" y="3619500"/>
            <a:ext cx="1219200" cy="495300"/>
          </a:xfrm>
          <a:prstGeom prst="rect">
            <a:avLst/>
          </a:prstGeom>
          <a:solidFill>
            <a:srgbClr val="FFFDF9"/>
          </a:solidFill>
          <a:ln w="14288">
            <a:solidFill>
              <a:srgbClr val="C79344"/>
            </a:solidFill>
            <a:prstDash val="solid"/>
          </a:ln>
        </ns0:spPr>
      </ns0:sp>
      <ns0:sp>
        <ns0:nvSpPr>
          <ns0:cNvPr id="24" name="">
            <a:extLst>
              <a:ext uri="{FF2B5EF4-FFF2-40B4-BE49-F238E27FC236}">
                <ns2:creationId id="{0847E202-8D0D-4198-9FE7-5105550071AC}"/>
              </a:ext>
            </a:extLst>
          </ns0:cNvPr>
          <ns0:cNvSpPr>
            <a:spLocks noGrp="1"/>
          </ns0:cNvSpPr>
          <ns0:nvPr/>
        </ns0:nvSpPr>
        <ns0:spPr>
          <a:xfrm>
            <a:off x="6743700" y="375285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写入入住表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B29378E1-3042-408B-972C-FA6E06ED073F}"/>
              </a:ext>
            </a:extLst>
          </ns0:cNvPr>
          <ns0:cNvSpPr>
            <a:spLocks noGrp="1"/>
          </ns0:cNvSpPr>
          <ns0:nvPr/>
        </ns0:nvSpPr>
        <ns0:spPr>
          <a:xfrm>
            <a:off x="6667500" y="4524375"/>
            <a:ext cx="1219200" cy="495300"/>
          </a:xfrm>
          <a:prstGeom prst="rect">
            <a:avLst/>
          </a:prstGeom>
          <a:solidFill>
            <a:srgbClr val="FFFDF9"/>
          </a:solidFill>
          <a:ln w="14288">
            <a:solidFill>
              <a:srgbClr val="2B5E7E"/>
            </a:solidFill>
            <a:prstDash val="solid"/>
          </a:ln>
        </ns0:spPr>
      </ns0:sp>
      <ns0:sp>
        <ns0:nvSpPr>
          <ns0:cNvPr id="26" name="">
            <a:extLst>
              <a:ext uri="{FF2B5EF4-FFF2-40B4-BE49-F238E27FC236}">
                <ns2:creationId id="{4E9CC852-76E9-4E45-8370-69E03C4C5210}"/>
              </a:ext>
            </a:extLst>
          </ns0:cNvPr>
          <ns0:cNvSpPr>
            <a:spLocks noGrp="1"/>
          </ns0:cNvSpPr>
          <ns0:nvPr/>
        </ns0:nvSpPr>
        <ns0:spPr>
          <a:xfrm>
            <a:off x="6743700" y="4657725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更新房态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36C48D29-D3F4-49EF-8DD4-1D6883D06171}"/>
              </a:ext>
            </a:extLst>
          </ns0:cNvPr>
          <ns0:cNvSpPr>
            <a:spLocks noGrp="1"/>
          </ns0:cNvSpPr>
          <ns0:nvPr/>
        </ns0:nvSpPr>
        <ns0:spPr>
          <a:xfrm>
            <a:off x="7258050" y="2305050"/>
            <a:ext cx="38100" cy="409575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8" name="">
            <a:extLst>
              <a:ext uri="{FF2B5EF4-FFF2-40B4-BE49-F238E27FC236}">
                <ns2:creationId id="{F2575214-5391-4E88-92D7-7832E7ED06C9}"/>
              </a:ext>
            </a:extLst>
          </ns0:cNvPr>
          <ns0:cNvSpPr>
            <a:spLocks noGrp="1"/>
          </ns0:cNvSpPr>
          <ns0:nvPr/>
        </ns0:nvSpPr>
        <ns0:spPr>
          <a:xfrm>
            <a:off x="7258050" y="3209925"/>
            <a:ext cx="38100" cy="409575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9" name="">
            <a:extLst>
              <a:ext uri="{FF2B5EF4-FFF2-40B4-BE49-F238E27FC236}">
                <ns2:creationId id="{44C4BA37-8149-4039-9011-5C3713ED59E7}"/>
              </a:ext>
            </a:extLst>
          </ns0:cNvPr>
          <ns0:cNvSpPr>
            <a:spLocks noGrp="1"/>
          </ns0:cNvSpPr>
          <ns0:nvPr/>
        </ns0:nvSpPr>
        <ns0:spPr>
          <a:xfrm>
            <a:off x="7258050" y="4114800"/>
            <a:ext cx="38100" cy="409575"/>
          </a:xfrm>
          <a:prstGeom prst="rect">
            <a:avLst/>
          </a:prstGeom>
          <a:solidFill>
            <a:srgbClr val="DACFC3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0" name="">
            <a:extLst>
              <a:ext uri="{FF2B5EF4-FFF2-40B4-BE49-F238E27FC236}">
                <ns2:creationId id="{EEB42C4F-B456-42B6-9ED3-BC3EEFA401DF}"/>
              </a:ext>
            </a:extLst>
          </ns0:cNvPr>
          <ns0:cNvSpPr>
            <a:spLocks noGrp="1"/>
          </ns0:cNvSpPr>
          <ns0:nvPr/>
        </ns0:nvSpPr>
        <ns0:spPr>
          <a:xfrm>
            <a:off x="8572500" y="1809750"/>
            <a:ext cx="2476500" cy="142875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31" name="">
            <a:extLst>
              <a:ext uri="{FF2B5EF4-FFF2-40B4-BE49-F238E27FC236}">
                <ns2:creationId id="{527336C7-CCDC-46AC-BF35-C5850523A766}"/>
              </a:ext>
            </a:extLst>
          </ns0:cNvPr>
          <ns0:cNvSpPr>
            <a:spLocks noGrp="1"/>
          </ns0:cNvSpPr>
          <ns0:nvPr/>
        </ns0:nvSpPr>
        <ns0:spPr>
          <a:xfrm>
            <a:off x="8572500" y="1809750"/>
            <a:ext cx="57150" cy="1428750"/>
          </a:xfrm>
          <a:prstGeom prst="rect">
            <a:avLst/>
          </a:prstGeom>
          <a:solidFill>
            <a:srgbClr val="1E6B6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2" name="">
            <a:extLst>
              <a:ext uri="{FF2B5EF4-FFF2-40B4-BE49-F238E27FC236}">
                <ns2:creationId id="{EA51D8F8-B947-4014-82A1-A983A7E838AF}"/>
              </a:ext>
            </a:extLst>
          </ns0:cNvPr>
          <ns0:cNvSpPr>
            <a:spLocks noGrp="1"/>
          </ns0:cNvSpPr>
          <ns0:nvPr/>
        </ns0:nvSpPr>
        <ns0:spPr>
          <a:xfrm>
            <a:off x="8782050" y="1981200"/>
            <a:ext cx="2076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update_room_status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67A87B1A-9807-414B-9338-BE8EF69C0D6F}"/>
              </a:ext>
            </a:extLst>
          </ns0:cNvPr>
          <ns0:cNvSpPr>
            <a:spLocks noGrp="1"/>
          </ns0:cNvSpPr>
          <ns0:nvPr/>
        </ns0:nvSpPr>
        <ns0:spPr>
          <a:xfrm>
            <a:off x="8782050" y="2333625"/>
            <a:ext cx="20764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先看维修状态，再查是否有 active 入住，再查是否有有效预约，最后决定 free / occupied / reserved。</a:t>
            </a:r>
          </a:p>
        </ns0:txBody>
      </ns0:sp>
      <ns0:sp>
        <ns0:nvSpPr>
          <ns0:cNvPr id="34" name="">
            <a:extLst>
              <a:ext uri="{FF2B5EF4-FFF2-40B4-BE49-F238E27FC236}">
                <ns2:creationId id="{FAC1CBC6-D988-4547-8207-E1CEB6B2837E}"/>
              </a:ext>
            </a:extLst>
          </ns0:cNvPr>
          <ns0:cNvSpPr>
            <a:spLocks noGrp="1"/>
          </ns0:cNvSpPr>
          <ns0:nvPr/>
        </ns0:nvSpPr>
        <ns0:spPr>
          <a:xfrm>
            <a:off x="8572500" y="3571875"/>
            <a:ext cx="2476500" cy="142875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35" name="">
            <a:extLst>
              <a:ext uri="{FF2B5EF4-FFF2-40B4-BE49-F238E27FC236}">
                <ns2:creationId id="{52F81F40-2D47-4EC1-BDE0-F879522692BA}"/>
              </a:ext>
            </a:extLst>
          </ns0:cNvPr>
          <ns0:cNvSpPr>
            <a:spLocks noGrp="1"/>
          </ns0:cNvSpPr>
          <ns0:nvPr/>
        </ns0:nvSpPr>
        <ns0:spPr>
          <a:xfrm>
            <a:off x="8572500" y="3571875"/>
            <a:ext cx="57150" cy="142875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6" name="">
            <a:extLst>
              <a:ext uri="{FF2B5EF4-FFF2-40B4-BE49-F238E27FC236}">
                <ns2:creationId id="{E5811F89-790A-42F9-A7E7-F2ACFB3FF850}"/>
              </a:ext>
            </a:extLst>
          </ns0:cNvPr>
          <ns0:cNvSpPr>
            <a:spLocks noGrp="1"/>
          </ns0:cNvSpPr>
          <ns0:nvPr/>
        </ns0:nvSpPr>
        <ns0:spPr>
          <a:xfrm>
            <a:off x="8782050" y="3743325"/>
            <a:ext cx="2076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事务控制</a:t>
            </a:r>
          </a:p>
        </ns0:txBody>
      </ns0:sp>
      <ns0:sp>
        <ns0:nvSpPr>
          <ns0:cNvPr id="37" name="">
            <a:extLst>
              <a:ext uri="{FF2B5EF4-FFF2-40B4-BE49-F238E27FC236}">
                <ns2:creationId id="{54B75338-D3CB-464F-9922-4BE3CC99212D}"/>
              </a:ext>
            </a:extLst>
          </ns0:cNvPr>
          <ns0:cNvSpPr>
            <a:spLocks noGrp="1"/>
          </ns0:cNvSpPr>
          <ns0:nvPr/>
        </ns0:nvSpPr>
        <ns0:spPr>
          <a:xfrm>
            <a:off x="8782050" y="4095750"/>
            <a:ext cx="20764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同一个业务流程里的多条 SQL 要么全部成功，要么全部失败，保证一致性。</a:t>
            </a:r>
          </a:p>
        </ns0:txBody>
      </ns0:sp>
    </ns0:spTree>
    <ns0:extLst>
      <ns0:ext uri="{BB962C8B-B14F-4D97-AF65-F5344CB8AC3E}">
        <ns3:creationId val="89561895"/>
      </ns0:ext>
    </ns0:extLst>
  </ns0:cSld>
</ns0:sld>
</file>

<file path=ppt/slides/slide1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4A31FD65-C2C4-4E79-AD96-37DFC83325F2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0109DAD0-6A77-474B-8762-15B21A455F53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F7AC48B2-4B40-43ED-A7BA-0E5A136654E9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71450" cy="68580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EF3E5FDE-C695-440C-B7AD-3761D9E4DBF8}"/>
              </a:ext>
            </a:extLst>
          </ns0:cNvPr>
          <ns0:cNvSpPr>
            <a:spLocks noGrp="1"/>
          </ns0:cNvSpPr>
          <ns0:nvPr/>
        </ns0:nvSpPr>
        <ns0:spPr>
          <a:xfrm>
            <a:off x="171450" y="0"/>
            <a:ext cx="47625" cy="68580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B90F34EF-2597-4A0E-8FAB-2E49892FFF6B}"/>
              </a:ext>
            </a:extLst>
          </ns0:cNvPr>
          <ns0:cNvSpPr>
            <a:spLocks noGrp="1"/>
          </ns0:cNvSpPr>
          <ns0:nvPr/>
        </ns0:nvSpPr>
        <ns0:spPr>
          <a:xfrm>
            <a:off x="9810750" y="0"/>
            <a:ext cx="2381250" cy="2381250"/>
          </a:xfrm>
          <a:prstGeom prst="ellipse">
            <a:avLst/>
          </a:prstGeom>
          <a:solidFill>
            <a:srgbClr val="F0D8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E5B72F66-66F7-4728-BD26-199D73AA69A2}"/>
              </a:ext>
            </a:extLst>
          </ns0:cNvPr>
          <ns0:cNvSpPr>
            <a:spLocks noGrp="1"/>
          </ns0:cNvSpPr>
          <ns0:nvPr/>
        </ns0:nvSpPr>
        <ns0:spPr>
          <a:xfrm>
            <a:off x="10191750" y="381000"/>
            <a:ext cx="1638300" cy="1638300"/>
          </a:xfrm>
          <a:prstGeom prst="ellipse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7" name="">
            <a:extLst>
              <a:ext uri="{FF2B5EF4-FFF2-40B4-BE49-F238E27FC236}">
                <ns2:creationId id="{A6CC9D60-B6B7-4FBE-8FC2-1E7E7FED8838}"/>
              </a:ext>
            </a:extLst>
          </ns0:cNvPr>
          <ns0:cNvSpPr>
            <a:spLocks noGrp="1"/>
          </ns0:cNvSpPr>
          <ns0:nvPr/>
        </ns0:nvSpPr>
        <ns0:spPr>
          <a:xfrm>
            <a:off x="6096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退房结算与报表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BED8BBDB-FBAC-407C-AAAC-0CF6D5989288}"/>
              </a:ext>
            </a:extLst>
          </ns0:cNvPr>
          <ns0:cNvSpPr>
            <a:spLocks noGrp="1"/>
          </ns0:cNvSpPr>
          <ns0:nvPr/>
        </ns0:nvSpPr>
        <ns0:spPr>
          <a:xfrm>
            <a:off x="609600" y="66675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结算模块把房费、额外消费、优惠和超时天数统一计算后落库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003352DE-FB6C-4043-8A3D-039081C8DB69}"/>
              </a:ext>
            </a:extLst>
          </ns0:cNvPr>
          <ns0:cNvSpPr>
            <a:spLocks noGrp="1"/>
          </ns0:cNvSpPr>
          <ns0:nvPr/>
        </ns0:nvSpPr>
        <ns0:spPr>
          <a:xfrm>
            <a:off x="609600" y="13906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财务相关逻辑放在后端计算，避免前端页面被修改后影响账单金额。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749A5A59-CD8C-40B3-AAB5-E272A17351CB}"/>
              </a:ext>
            </a:extLst>
          </ns0:cNvPr>
          <ns0:cNvSpPr>
            <a:spLocks noGrp="1"/>
          </ns0:cNvSpPr>
          <ns0:nvPr/>
        </ns0:nvSpPr>
        <ns0:spPr>
          <a:xfrm>
            <a:off x="609600" y="64960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rPr>
              <a:t>酒店客房管理系统 · 数据库与后端答辩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CB01304B-5C3F-4E01-969F-E341671674C8}"/>
              </a:ext>
            </a:extLst>
          </ns0:cNvPr>
          <ns0:cNvSpPr>
            <a:spLocks noGrp="1"/>
          </ns0:cNvSpPr>
          <ns0:nvPr/>
        </ns0:nvSpPr>
        <ns0:spPr>
          <a:xfrm>
            <a:off x="11125200" y="64579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897F66A3-97BD-4C11-A11B-FC3C760F219C}"/>
              </a:ext>
            </a:extLst>
          </ns0:cNvPr>
          <ns0:cNvSpPr>
            <a:spLocks noGrp="1"/>
          </ns0:cNvSpPr>
          <ns0:nvPr/>
        </ns0:nvSpPr>
        <ns0:spPr>
          <a:xfrm>
            <a:off x="666750" y="1600200"/>
            <a:ext cx="6572250" cy="3810000"/>
          </a:xfrm>
          <a:prstGeom prst="rect">
            <a:avLst/>
          </a:prstGeom>
          <a:solidFill>
            <a:srgbClr val="1B1D22"/>
          </a:solidFill>
          <a:ln w="9525">
            <a:solidFill>
              <a:srgbClr val="333842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86F9BAFA-275B-44B7-9BFF-6C8A06A511D6}"/>
              </a:ext>
            </a:extLst>
          </ns0:cNvPr>
          <ns0:cNvSpPr>
            <a:spLocks noGrp="1"/>
          </ns0:cNvSpPr>
          <ns0:nvPr/>
        </ns0:nvSpPr>
        <ns0:spPr>
          <a:xfrm>
            <a:off x="666750" y="1600200"/>
            <a:ext cx="6572250" cy="342900"/>
          </a:xfrm>
          <a:prstGeom prst="rect">
            <a:avLst/>
          </a:prstGeom>
          <a:solidFill>
            <a:srgbClr val="2A2D35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F60814DE-0CF6-435C-AC09-885866B427E8}"/>
              </a:ext>
            </a:extLst>
          </ns0:cNvPr>
          <ns0:cNvSpPr>
            <a:spLocks noGrp="1"/>
          </ns0:cNvSpPr>
          <ns0:nvPr/>
        </ns0:nvSpPr>
        <ns0:spPr>
          <a:xfrm>
            <a:off x="809625" y="1724025"/>
            <a:ext cx="85725" cy="85725"/>
          </a:xfrm>
          <a:prstGeom prst="ellipse">
            <a:avLst/>
          </a:prstGeom>
          <a:solidFill>
            <a:srgbClr val="D95F59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904D9E68-F6FE-480D-9CD5-3C371075C83E}"/>
              </a:ext>
            </a:extLst>
          </ns0:cNvPr>
          <ns0:cNvSpPr>
            <a:spLocks noGrp="1"/>
          </ns0:cNvSpPr>
          <ns0:nvPr/>
        </ns0:nvSpPr>
        <ns0:spPr>
          <a:xfrm>
            <a:off x="962025" y="1724025"/>
            <a:ext cx="85725" cy="85725"/>
          </a:xfrm>
          <a:prstGeom prst="ellipse">
            <a:avLst/>
          </a:prstGeom>
          <a:solidFill>
            <a:srgbClr val="E9B84C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6" name="">
            <a:extLst>
              <a:ext uri="{FF2B5EF4-FFF2-40B4-BE49-F238E27FC236}">
                <ns2:creationId id="{36503B44-A598-413A-964C-3E2358DDD182}"/>
              </a:ext>
            </a:extLst>
          </ns0:cNvPr>
          <ns0:cNvSpPr>
            <a:spLocks noGrp="1"/>
          </ns0:cNvSpPr>
          <ns0:nvPr/>
        </ns0:nvSpPr>
        <ns0:spPr>
          <a:xfrm>
            <a:off x="1114425" y="1724025"/>
            <a:ext cx="85725" cy="85725"/>
          </a:xfrm>
          <a:prstGeom prst="ellipse">
            <a:avLst/>
          </a:prstGeom>
          <a:solidFill>
            <a:srgbClr val="63BF68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F1979ABE-C468-4043-8A40-E643EC873FCC}"/>
              </a:ext>
            </a:extLst>
          </ns0:cNvPr>
          <ns0:cNvSpPr>
            <a:spLocks noGrp="1"/>
          </ns0:cNvSpPr>
          <ns0:nvPr/>
        </ns0:nvSpPr>
        <ns0:spPr>
          <a:xfrm>
            <a:off x="1352550" y="1685925"/>
            <a:ext cx="5695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75" b="0">
                <a:solidFill>
                  <a:srgbClr val="D7DCE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7DCE5"/>
                </a:solidFill>
                <a:latin typeface="Consolas"/>
                <a:ea typeface="Consolas"/>
                <a:cs typeface="Consolas"/>
              </a:rPr>
              <a:t>核心代码：账单计算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A5B90B20-FAC9-4032-826D-A3D5943E0D58}"/>
              </a:ext>
            </a:extLst>
          </ns0:cNvPr>
          <ns0:cNvSpPr>
            <a:spLocks noGrp="1"/>
          </ns0:cNvSpPr>
          <ns0:nvPr/>
        </ns0:nvSpPr>
        <ns0:spPr>
          <a:xfrm>
            <a:off x="838200" y="2076450"/>
            <a:ext cx="6229350" cy="3238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checkin = parse_date(stay["checkin_date"], "入住日期")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planned = parse_date(stay["planned_checkout_date"], "预计离店")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actual = parse_date(checkout_date_value, "退房日期")</a:t>
            </a:r>
          </a:p>
          <a:p>
            <a:r>
              <a:t/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nights = max((actual - checkin).days, 1)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overdue_days = max((actual - planned).days, 0)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room_total = round(nights * float(stay["room_rate"]), 2)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extra_total = SELECT SUM(amount) FROM extra_charges WHERE stay_id = ?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payable = room_total + extra_total - discount</a:t>
            </a:r>
          </a:p>
          <a:p>
            <a:r>
              <a:t/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INSERT INTO settlements(... payable_total ...)</a:t>
            </a:r>
          </a:p>
          <a:p>
            <a:pPr algn="l">
              <a:defRPr sz="1125" b="0">
                <a:solidFill>
                  <a:srgbClr val="F3F5F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3F5F7"/>
                </a:solidFill>
                <a:latin typeface="Consolas"/>
                <a:ea typeface="Consolas"/>
                <a:cs typeface="Consolas"/>
              </a:rPr>
              <a:t>UPDATE stays SET status='checked_out'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173CC267-EC72-47FC-8944-3BBF70001099}"/>
              </a:ext>
            </a:extLst>
          </ns0:cNvPr>
          <ns0:cNvSpPr>
            <a:spLocks noGrp="1"/>
          </ns0:cNvSpPr>
          <ns0:nvPr/>
        </ns0:nvSpPr>
        <ns0:spPr>
          <a:xfrm>
            <a:off x="7715250" y="1762125"/>
            <a:ext cx="3143250" cy="89535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6AFEF1E3-3A3B-4052-94AA-6CA4119C13FA}"/>
              </a:ext>
            </a:extLst>
          </ns0:cNvPr>
          <ns0:cNvSpPr>
            <a:spLocks noGrp="1"/>
          </ns0:cNvSpPr>
          <ns0:nvPr/>
        </ns0:nvSpPr>
        <ns0:spPr>
          <a:xfrm>
            <a:off x="7715250" y="1762125"/>
            <a:ext cx="57150" cy="89535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2C53BF6F-1DC6-4102-9EAF-265FECDA9BED}"/>
              </a:ext>
            </a:extLst>
          </ns0:cNvPr>
          <ns0:cNvSpPr>
            <a:spLocks noGrp="1"/>
          </ns0:cNvSpPr>
          <ns0:nvPr/>
        </ns0:nvSpPr>
        <ns0:spPr>
          <a:xfrm>
            <a:off x="7924800" y="1933575"/>
            <a:ext cx="2743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收入报表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3983D5DC-82AE-4614-99D2-3FB508FD292F}"/>
              </a:ext>
            </a:extLst>
          </ns0:cNvPr>
          <ns0:cNvSpPr>
            <a:spLocks noGrp="1"/>
          </ns0:cNvSpPr>
          <ns0:nvPr/>
        </ns0:nvSpPr>
        <ns0:spPr>
          <a:xfrm>
            <a:off x="7924800" y="2286000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v_daily_revenue 按 paid_at 汇总每日账单数、房费收入、额外消费和总收入。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358191BE-C728-470D-BA0D-C3F930A7DCEF}"/>
              </a:ext>
            </a:extLst>
          </ns0:cNvPr>
          <ns0:cNvSpPr>
            <a:spLocks noGrp="1"/>
          </ns0:cNvSpPr>
          <ns0:nvPr/>
        </ns0:nvSpPr>
        <ns0:spPr>
          <a:xfrm>
            <a:off x="7715250" y="2971800"/>
            <a:ext cx="3143250" cy="89535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4" name="">
            <a:extLst>
              <a:ext uri="{FF2B5EF4-FFF2-40B4-BE49-F238E27FC236}">
                <ns2:creationId id="{081BC07C-F509-44E4-A464-B95237E16AE8}"/>
              </a:ext>
            </a:extLst>
          </ns0:cNvPr>
          <ns0:cNvSpPr>
            <a:spLocks noGrp="1"/>
          </ns0:cNvSpPr>
          <ns0:nvPr/>
        </ns0:nvSpPr>
        <ns0:spPr>
          <a:xfrm>
            <a:off x="7715250" y="2971800"/>
            <a:ext cx="57150" cy="895350"/>
          </a:xfrm>
          <a:prstGeom prst="rect">
            <a:avLst/>
          </a:prstGeom>
          <a:solidFill>
            <a:srgbClr val="1E6B6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5" name="">
            <a:extLst>
              <a:ext uri="{FF2B5EF4-FFF2-40B4-BE49-F238E27FC236}">
                <ns2:creationId id="{07C00109-9851-4FA1-B0E0-2FB71D30BF45}"/>
              </a:ext>
            </a:extLst>
          </ns0:cNvPr>
          <ns0:cNvSpPr>
            <a:spLocks noGrp="1"/>
          </ns0:cNvSpPr>
          <ns0:nvPr/>
        </ns0:nvSpPr>
        <ns0:spPr>
          <a:xfrm>
            <a:off x="7924800" y="3143250"/>
            <a:ext cx="2743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客户历史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04262F16-6F3D-4B7D-83B2-98CDF49E8552}"/>
              </a:ext>
            </a:extLst>
          </ns0:cNvPr>
          <ns0:cNvSpPr>
            <a:spLocks noGrp="1"/>
          </ns0:cNvSpPr>
          <ns0:nvPr/>
        </ns0:nvSpPr>
        <ns0:spPr>
          <a:xfrm>
            <a:off x="7924800" y="3495675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v_customer_history 汇总客户入住次数、最近退房日期和累计消费。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D746591F-32D6-49DD-AB7D-FEA7DC053FED}"/>
              </a:ext>
            </a:extLst>
          </ns0:cNvPr>
          <ns0:cNvSpPr>
            <a:spLocks noGrp="1"/>
          </ns0:cNvSpPr>
          <ns0:nvPr/>
        </ns0:nvSpPr>
        <ns0:spPr>
          <a:xfrm>
            <a:off x="7715250" y="4181475"/>
            <a:ext cx="3143250" cy="89535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8" name="">
            <a:extLst>
              <a:ext uri="{FF2B5EF4-FFF2-40B4-BE49-F238E27FC236}">
                <ns2:creationId id="{A7D53300-DE05-48CD-A954-72F833A73414}"/>
              </a:ext>
            </a:extLst>
          </ns0:cNvPr>
          <ns0:cNvSpPr>
            <a:spLocks noGrp="1"/>
          </ns0:cNvSpPr>
          <ns0:nvPr/>
        </ns0:nvSpPr>
        <ns0:spPr>
          <a:xfrm>
            <a:off x="7715250" y="4181475"/>
            <a:ext cx="57150" cy="89535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9" name="">
            <a:extLst>
              <a:ext uri="{FF2B5EF4-FFF2-40B4-BE49-F238E27FC236}">
                <ns2:creationId id="{E8A8C655-A00E-487A-BAF4-8DDF5B0301DE}"/>
              </a:ext>
            </a:extLst>
          </ns0:cNvPr>
          <ns0:cNvSpPr>
            <a:spLocks noGrp="1"/>
          </ns0:cNvSpPr>
          <ns0:nvPr/>
        </ns0:nvSpPr>
        <ns0:spPr>
          <a:xfrm>
            <a:off x="7924800" y="4352925"/>
            <a:ext cx="2743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首页统计</a:t>
            </a:r>
          </a:p>
        </ns0:txBody>
      </ns0:sp>
      <ns0:sp>
        <ns0:nvSpPr>
          <ns0:cNvPr id="30" name="">
            <a:extLst>
              <a:ext uri="{FF2B5EF4-FFF2-40B4-BE49-F238E27FC236}">
                <ns2:creationId id="{C1865D8F-9B01-4051-8FC4-A42AAC6A4CEB}"/>
              </a:ext>
            </a:extLst>
          </ns0:cNvPr>
          <ns0:cNvSpPr>
            <a:spLocks noGrp="1"/>
          </ns0:cNvSpPr>
          <ns0:nvPr/>
        </ns0:nvSpPr>
        <ns0:spPr>
          <a:xfrm>
            <a:off x="7924800" y="4705350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dashboard 接口聚合房态、今日收入、本月收入、今日到店和应退房。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1565CDD1-437A-4689-A14A-213494DE91C5}"/>
              </a:ext>
            </a:extLst>
          </ns0:cNvPr>
          <ns0:cNvSpPr>
            <a:spLocks noGrp="1"/>
          </ns0:cNvSpPr>
          <ns0:nvPr/>
        </ns0:nvSpPr>
        <ns0:spPr>
          <a:xfrm>
            <a:off x="7715250" y="552450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200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答辩讲法：报表不是前端凭空算，而是后端通过 SQL 聚合和视图得到。</a:t>
            </a:r>
          </a:p>
        </ns0:txBody>
      </ns0:sp>
    </ns0:spTree>
    <ns0:extLst>
      <ns0:ext uri="{BB962C8B-B14F-4D97-AF65-F5344CB8AC3E}">
        <ns3:creationId val="617424236"/>
      </ns0:ext>
    </ns0:extLst>
  </ns0:cSld>
</ns0:sld>
</file>

<file path=ppt/slides/slide1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0A846E6F-0390-47AA-914F-04335FED74AF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" name="">
            <a:extLst>
              <a:ext uri="{FF2B5EF4-FFF2-40B4-BE49-F238E27FC236}">
                <ns2:creationId id="{B446C592-940E-4A03-A787-B988E0977517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" name="">
            <a:extLst>
              <a:ext uri="{FF2B5EF4-FFF2-40B4-BE49-F238E27FC236}">
                <ns2:creationId id="{8FD867F3-D0CB-447D-8F00-DCEF733CA939}"/>
              </a:ext>
            </a:extLst>
          </ns0:cNvPr>
          <ns0:cNvSpPr>
            <a:spLocks noGrp="1"/>
          </ns0:cNvSpPr>
          <ns0:nvPr/>
        </ns0:nvSpPr>
        <ns0:spPr>
          <a:xfrm>
            <a:off x="0" y="0"/>
            <a:ext cx="171450" cy="68580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A192E41B-C5C6-490B-A5F3-ABFB96FE6E8E}"/>
              </a:ext>
            </a:extLst>
          </ns0:cNvPr>
          <ns0:cNvSpPr>
            <a:spLocks noGrp="1"/>
          </ns0:cNvSpPr>
          <ns0:nvPr/>
        </ns0:nvSpPr>
        <ns0:spPr>
          <a:xfrm>
            <a:off x="171450" y="0"/>
            <a:ext cx="47625" cy="68580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67857687-C555-4CB8-88FF-FB5042D1BFBE}"/>
              </a:ext>
            </a:extLst>
          </ns0:cNvPr>
          <ns0:cNvSpPr>
            <a:spLocks noGrp="1"/>
          </ns0:cNvSpPr>
          <ns0:nvPr/>
        </ns0:nvSpPr>
        <ns0:spPr>
          <a:xfrm>
            <a:off x="9810750" y="0"/>
            <a:ext cx="2381250" cy="2381250"/>
          </a:xfrm>
          <a:prstGeom prst="ellipse">
            <a:avLst/>
          </a:prstGeom>
          <a:solidFill>
            <a:srgbClr val="F0D8C7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DFC51C80-D1FA-45B1-A0A4-DD4309FCAD0A}"/>
              </a:ext>
            </a:extLst>
          </ns0:cNvPr>
          <ns0:cNvSpPr>
            <a:spLocks noGrp="1"/>
          </ns0:cNvSpPr>
          <ns0:nvPr/>
        </ns0:nvSpPr>
        <ns0:spPr>
          <a:xfrm>
            <a:off x="10191750" y="381000"/>
            <a:ext cx="1638300" cy="1638300"/>
          </a:xfrm>
          <a:prstGeom prst="ellipse">
            <a:avLst/>
          </a:prstGeom>
          <a:solidFill>
            <a:srgbClr val="F8F4E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7" name="">
            <a:extLst>
              <a:ext uri="{FF2B5EF4-FFF2-40B4-BE49-F238E27FC236}">
                <ns2:creationId id="{B766755A-B235-4614-899F-8643D9A026B6}"/>
              </a:ext>
            </a:extLst>
          </ns0:cNvPr>
          <ns0:cNvSpPr>
            <a:spLocks noGrp="1"/>
          </ns0:cNvSpPr>
          <ns0:nvPr/>
        </ns0:nvSpPr>
        <ns0:spPr>
          <a:xfrm>
            <a:off x="609600" y="38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创新点与总结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0F03E83C-EAEE-4667-897B-F1B8F31D450A}"/>
              </a:ext>
            </a:extLst>
          </ns0:cNvPr>
          <ns0:cNvSpPr>
            <a:spLocks noGrp="1"/>
          </ns0:cNvSpPr>
          <ns0:nvPr/>
        </ns0:nvSpPr>
        <ns0:spPr>
          <a:xfrm>
            <a:off x="609600" y="66675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项目亮点不在页面数量，而在数据质量、业务闭环和可解释的后端设计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8FF373AD-9E09-4016-BDA5-D4AFD26D648A}"/>
              </a:ext>
            </a:extLst>
          </ns0:cNvPr>
          <ns0:cNvSpPr>
            <a:spLocks noGrp="1"/>
          </ns0:cNvSpPr>
          <ns0:nvPr/>
        </ns0:nvSpPr>
        <ns0:spPr>
          <a:xfrm>
            <a:off x="609600" y="13906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答辩最后用这页收束，强调自己不是简单 CRUD，而是做了数据库课程要求的严谨设计。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DCC07E37-21DD-4CAE-A2E7-D574C15A009E}"/>
              </a:ext>
            </a:extLst>
          </ns0:cNvPr>
          <ns0:cNvSpPr>
            <a:spLocks noGrp="1"/>
          </ns0:cNvSpPr>
          <ns0:nvPr/>
        </ns0:nvSpPr>
        <ns0:spPr>
          <a:xfrm>
            <a:off x="609600" y="649605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817A"/>
                </a:solidFill>
                <a:latin typeface="Microsoft YaHei"/>
                <a:ea typeface="Microsoft YaHei"/>
                <a:cs typeface="Microsoft YaHei"/>
              </a:rPr>
              <a:t>酒店客房管理系统 · 数据库与后端答辩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0CD37A33-15E5-40C1-B751-886472D76680}"/>
              </a:ext>
            </a:extLst>
          </ns0:cNvPr>
          <ns0:cNvSpPr>
            <a:spLocks noGrp="1"/>
          </ns0:cNvSpPr>
          <ns0:nvPr/>
        </ns0:nvSpPr>
        <ns0:spPr>
          <a:xfrm>
            <a:off x="11125200" y="64579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r">
              <a:def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E1F2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434EEBFF-EFAD-410E-A530-848CE22170B4}"/>
              </a:ext>
            </a:extLst>
          </ns0:cNvPr>
          <ns0:cNvSpPr>
            <a:spLocks noGrp="1"/>
          </ns0:cNvSpPr>
          <ns0:nvPr/>
        </ns0:nvSpPr>
        <ns0:spPr>
          <a:xfrm>
            <a:off x="666750" y="1695450"/>
            <a:ext cx="3143250" cy="13335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13" name="">
            <a:extLst>
              <a:ext uri="{FF2B5EF4-FFF2-40B4-BE49-F238E27FC236}">
                <ns2:creationId id="{6CEF0A35-DDAE-466F-90AC-7F2DAD0BE92D}"/>
              </a:ext>
            </a:extLst>
          </ns0:cNvPr>
          <ns0:cNvSpPr>
            <a:spLocks noGrp="1"/>
          </ns0:cNvSpPr>
          <ns0:nvPr/>
        </ns0:nvSpPr>
        <ns0:spPr>
          <a:xfrm>
            <a:off x="666750" y="1695450"/>
            <a:ext cx="57150" cy="13335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B93B1145-22A8-4982-B3E6-50A6C49A95BC}"/>
              </a:ext>
            </a:extLst>
          </ns0:cNvPr>
          <ns0:cNvSpPr>
            <a:spLocks noGrp="1"/>
          </ns0:cNvSpPr>
          <ns0:nvPr/>
        </ns0:nvSpPr>
        <ns0:spPr>
          <a:xfrm>
            <a:off x="876300" y="1866900"/>
            <a:ext cx="2743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创新点 1：冲突自动拦截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AD1E423D-784A-481A-BE03-852003A065E7}"/>
              </a:ext>
            </a:extLst>
          </ns0:cNvPr>
          <ns0:cNvSpPr>
            <a:spLocks noGrp="1"/>
          </ns0:cNvSpPr>
          <ns0:nvPr/>
        </ns0:nvSpPr>
        <ns0:spPr>
          <a:xfrm>
            <a:off x="876300" y="2219325"/>
            <a:ext cx="2743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触发器防止维修房预约、同一日期区间重复预约或重复入住，降低人工排房错误。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53339D27-D82B-4AB7-B863-F61F41895AE5}"/>
              </a:ext>
            </a:extLst>
          </ns0:cNvPr>
          <ns0:cNvSpPr>
            <a:spLocks noGrp="1"/>
          </ns0:cNvSpPr>
          <ns0:nvPr/>
        </ns0:nvSpPr>
        <ns0:spPr>
          <a:xfrm>
            <a:off x="4476750" y="1695450"/>
            <a:ext cx="3143250" cy="13335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17" name="">
            <a:extLst>
              <a:ext uri="{FF2B5EF4-FFF2-40B4-BE49-F238E27FC236}">
                <ns2:creationId id="{2FF53131-4885-4196-8683-CB99C32B42E5}"/>
              </a:ext>
            </a:extLst>
          </ns0:cNvPr>
          <ns0:cNvSpPr>
            <a:spLocks noGrp="1"/>
          </ns0:cNvSpPr>
          <ns0:nvPr/>
        </ns0:nvSpPr>
        <ns0:spPr>
          <a:xfrm>
            <a:off x="4476750" y="1695450"/>
            <a:ext cx="57150" cy="1333500"/>
          </a:xfrm>
          <a:prstGeom prst="rect">
            <a:avLst/>
          </a:prstGeom>
          <a:solidFill>
            <a:srgbClr val="1E6B6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18" name="">
            <a:extLst>
              <a:ext uri="{FF2B5EF4-FFF2-40B4-BE49-F238E27FC236}">
                <ns2:creationId id="{4A4AEF6F-64A5-4AEB-AF31-CAA3F07415D2}"/>
              </a:ext>
            </a:extLst>
          </ns0:cNvPr>
          <ns0:cNvSpPr>
            <a:spLocks noGrp="1"/>
          </ns0:cNvSpPr>
          <ns0:nvPr/>
        </ns0:nvSpPr>
        <ns0:spPr>
          <a:xfrm>
            <a:off x="4686300" y="1866900"/>
            <a:ext cx="2743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创新点 2：双层数据校验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F7D9426E-1D65-477E-95D5-629E7BDBF84B}"/>
              </a:ext>
            </a:extLst>
          </ns0:cNvPr>
          <ns0:cNvSpPr>
            <a:spLocks noGrp="1"/>
          </ns0:cNvSpPr>
          <ns0:nvPr/>
        </ns0:nvSpPr>
        <ns0:spPr>
          <a:xfrm>
            <a:off x="4686300" y="2219325"/>
            <a:ext cx="2743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前端即时校验 + 后端强制校验，身份证还检查出生日期、年龄和校验码。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1AEE9698-3A35-4CC9-8834-1E9BC978EED6}"/>
              </a:ext>
            </a:extLst>
          </ns0:cNvPr>
          <ns0:cNvSpPr>
            <a:spLocks noGrp="1"/>
          </ns0:cNvSpPr>
          <ns0:nvPr/>
        </ns0:nvSpPr>
        <ns0:spPr>
          <a:xfrm>
            <a:off x="8286750" y="1695450"/>
            <a:ext cx="3143250" cy="13335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1" name="">
            <a:extLst>
              <a:ext uri="{FF2B5EF4-FFF2-40B4-BE49-F238E27FC236}">
                <ns2:creationId id="{7DC0DE01-7BE9-4C75-BA48-5F9405EDA9CC}"/>
              </a:ext>
            </a:extLst>
          </ns0:cNvPr>
          <ns0:cNvSpPr>
            <a:spLocks noGrp="1"/>
          </ns0:cNvSpPr>
          <ns0:nvPr/>
        </ns0:nvSpPr>
        <ns0:spPr>
          <a:xfrm>
            <a:off x="8286750" y="1695450"/>
            <a:ext cx="57150" cy="1333500"/>
          </a:xfrm>
          <a:prstGeom prst="rect">
            <a:avLst/>
          </a:prstGeom>
          <a:solidFill>
            <a:srgbClr val="C79344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2" name="">
            <a:extLst>
              <a:ext uri="{FF2B5EF4-FFF2-40B4-BE49-F238E27FC236}">
                <ns2:creationId id="{EA29E4D1-D8CF-4BB1-BF72-AE1773C79698}"/>
              </a:ext>
            </a:extLst>
          </ns0:cNvPr>
          <ns0:cNvSpPr>
            <a:spLocks noGrp="1"/>
          </ns0:cNvSpPr>
          <ns0:nvPr/>
        </ns0:nvSpPr>
        <ns0:spPr>
          <a:xfrm>
            <a:off x="8496300" y="1866900"/>
            <a:ext cx="2743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创新点 3：状态自动同步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F0BCA40E-FECD-4D92-9F19-493FDD913E97}"/>
              </a:ext>
            </a:extLst>
          </ns0:cNvPr>
          <ns0:cNvSpPr>
            <a:spLocks noGrp="1"/>
          </ns0:cNvSpPr>
          <ns0:nvPr/>
        </ns0:nvSpPr>
        <ns0:spPr>
          <a:xfrm>
            <a:off x="8496300" y="2219325"/>
            <a:ext cx="2743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预约、入住、退房后调用 update_room_status，让客房状态随业务自动流转。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8E15F9D2-8C59-4392-9503-1756CFD445EE}"/>
              </a:ext>
            </a:extLst>
          </ns0:cNvPr>
          <ns0:cNvSpPr>
            <a:spLocks noGrp="1"/>
          </ns0:cNvSpPr>
          <ns0:nvPr/>
        </ns0:nvSpPr>
        <ns0:spPr>
          <a:xfrm>
            <a:off x="666750" y="3571875"/>
            <a:ext cx="3143250" cy="13335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5" name="">
            <a:extLst>
              <a:ext uri="{FF2B5EF4-FFF2-40B4-BE49-F238E27FC236}">
                <ns2:creationId id="{3ABD8CAB-98F4-432B-90F8-1B02D6FABA28}"/>
              </a:ext>
            </a:extLst>
          </ns0:cNvPr>
          <ns0:cNvSpPr>
            <a:spLocks noGrp="1"/>
          </ns0:cNvSpPr>
          <ns0:nvPr/>
        </ns0:nvSpPr>
        <ns0:spPr>
          <a:xfrm>
            <a:off x="666750" y="3571875"/>
            <a:ext cx="57150" cy="1333500"/>
          </a:xfrm>
          <a:prstGeom prst="rect">
            <a:avLst/>
          </a:prstGeom>
          <a:solidFill>
            <a:srgbClr val="2B5E7E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26" name="">
            <a:extLst>
              <a:ext uri="{FF2B5EF4-FFF2-40B4-BE49-F238E27FC236}">
                <ns2:creationId id="{53E25CAB-EB6A-4A15-8778-1BDA5D92AC07}"/>
              </a:ext>
            </a:extLst>
          </ns0:cNvPr>
          <ns0:cNvSpPr>
            <a:spLocks noGrp="1"/>
          </ns0:cNvSpPr>
          <ns0:nvPr/>
        </ns0:nvSpPr>
        <ns0:spPr>
          <a:xfrm>
            <a:off x="876300" y="3743325"/>
            <a:ext cx="2743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创新点 4：可追踪审计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2C3DC753-0B6F-4F70-9C60-6B136FB15888}"/>
              </a:ext>
            </a:extLst>
          </ns0:cNvPr>
          <ns0:cNvSpPr>
            <a:spLocks noGrp="1"/>
          </ns0:cNvSpPr>
          <ns0:nvPr/>
        </ns0:nvSpPr>
        <ns0:spPr>
          <a:xfrm>
            <a:off x="876300" y="4095750"/>
            <a:ext cx="2743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关键操作写入 audit_logs，可以追踪谁在什么时候做了什么操作。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1BAA6C81-419E-430D-9343-73E23688E526}"/>
              </a:ext>
            </a:extLst>
          </ns0:cNvPr>
          <ns0:cNvSpPr>
            <a:spLocks noGrp="1"/>
          </ns0:cNvSpPr>
          <ns0:nvPr/>
        </ns0:nvSpPr>
        <ns0:spPr>
          <a:xfrm>
            <a:off x="4476750" y="3571875"/>
            <a:ext cx="3143250" cy="13335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29" name="">
            <a:extLst>
              <a:ext uri="{FF2B5EF4-FFF2-40B4-BE49-F238E27FC236}">
                <ns2:creationId id="{8EF969FD-67B5-455B-9090-7826D37CF93D}"/>
              </a:ext>
            </a:extLst>
          </ns0:cNvPr>
          <ns0:cNvSpPr>
            <a:spLocks noGrp="1"/>
          </ns0:cNvSpPr>
          <ns0:nvPr/>
        </ns0:nvSpPr>
        <ns0:spPr>
          <a:xfrm>
            <a:off x="4476750" y="3571875"/>
            <a:ext cx="57150" cy="133350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0" name="">
            <a:extLst>
              <a:ext uri="{FF2B5EF4-FFF2-40B4-BE49-F238E27FC236}">
                <ns2:creationId id="{B7E56937-2D40-499D-8D2F-4B21C47240DB}"/>
              </a:ext>
            </a:extLst>
          </ns0:cNvPr>
          <ns0:cNvSpPr>
            <a:spLocks noGrp="1"/>
          </ns0:cNvSpPr>
          <ns0:nvPr/>
        </ns0:nvSpPr>
        <ns0:spPr>
          <a:xfrm>
            <a:off x="4686300" y="3743325"/>
            <a:ext cx="2743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项目完成度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2209B11F-7AEF-4D00-8156-A3A67E97E02B}"/>
              </a:ext>
            </a:extLst>
          </ns0:cNvPr>
          <ns0:cNvSpPr>
            <a:spLocks noGrp="1"/>
          </ns0:cNvSpPr>
          <ns0:nvPr/>
        </ns0:nvSpPr>
        <ns0:spPr>
          <a:xfrm>
            <a:off x="4686300" y="4095750"/>
            <a:ext cx="2743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覆盖用户、客房、客户、预约、入住、消费、结算、报表，满足酒店客房管理系统核心需求。</a:t>
            </a:r>
          </a:p>
        </ns0:txBody>
      </ns0:sp>
      <ns0:sp>
        <ns0:nvSpPr>
          <ns0:cNvPr id="32" name="">
            <a:extLst>
              <a:ext uri="{FF2B5EF4-FFF2-40B4-BE49-F238E27FC236}">
                <ns2:creationId id="{A95A228B-A2DE-4E0C-96F8-A73ED90E11A8}"/>
              </a:ext>
            </a:extLst>
          </ns0:cNvPr>
          <ns0:cNvSpPr>
            <a:spLocks noGrp="1"/>
          </ns0:cNvSpPr>
          <ns0:nvPr/>
        </ns0:nvSpPr>
        <ns0:spPr>
          <a:xfrm>
            <a:off x="8286750" y="3571875"/>
            <a:ext cx="3143250" cy="1333500"/>
          </a:xfrm>
          <a:prstGeom prst="rect">
            <a:avLst/>
          </a:prstGeom>
          <a:solidFill>
            <a:srgbClr val="FFFDF9"/>
          </a:solidFill>
          <a:ln w="9525">
            <a:solidFill>
              <a:srgbClr val="DACFC3"/>
            </a:solidFill>
            <a:prstDash val="solid"/>
          </a:ln>
        </ns0:spPr>
      </ns0:sp>
      <ns0:sp>
        <ns0:nvSpPr>
          <ns0:cNvPr id="33" name="">
            <a:extLst>
              <a:ext uri="{FF2B5EF4-FFF2-40B4-BE49-F238E27FC236}">
                <ns2:creationId id="{6D10332E-B1D6-4B9D-83A0-8315657AAFD3}"/>
              </a:ext>
            </a:extLst>
          </ns0:cNvPr>
          <ns0:cNvSpPr>
            <a:spLocks noGrp="1"/>
          </ns0:cNvSpPr>
          <ns0:nvPr/>
        </ns0:nvSpPr>
        <ns0:spPr>
          <a:xfrm>
            <a:off x="8286750" y="3571875"/>
            <a:ext cx="57150" cy="1333500"/>
          </a:xfrm>
          <a:prstGeom prst="rect">
            <a:avLst/>
          </a:prstGeom>
          <a:solidFill>
            <a:srgbClr val="1E6B66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4" name="">
            <a:extLst>
              <a:ext uri="{FF2B5EF4-FFF2-40B4-BE49-F238E27FC236}">
                <ns2:creationId id="{CC50DD23-D943-444C-BC5B-32B24CA4E0C4}"/>
              </a:ext>
            </a:extLst>
          </ns0:cNvPr>
          <ns0:cNvSpPr>
            <a:spLocks noGrp="1"/>
          </ns0:cNvSpPr>
          <ns0:nvPr/>
        </ns0:nvSpPr>
        <ns0:spPr>
          <a:xfrm>
            <a:off x="8496300" y="3743325"/>
            <a:ext cx="2743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1817"/>
                </a:solidFill>
                <a:latin typeface="Microsoft YaHei"/>
                <a:ea typeface="Microsoft YaHei"/>
                <a:cs typeface="Microsoft YaHei"/>
              </a:rPr>
              <a:t>后续优化</a:t>
            </a:r>
          </a:p>
        </ns0:txBody>
      </ns0:sp>
      <ns0:sp>
        <ns0:nvSpPr>
          <ns0:cNvPr id="35" name="">
            <a:extLst>
              <a:ext uri="{FF2B5EF4-FFF2-40B4-BE49-F238E27FC236}">
                <ns2:creationId id="{DA03615A-A5F0-4686-9F92-E1780ADBC8E0}"/>
              </a:ext>
            </a:extLst>
          </ns0:cNvPr>
          <ns0:cNvSpPr>
            <a:spLocks noGrp="1"/>
          </ns0:cNvSpPr>
          <ns0:nvPr/>
        </ns0:nvSpPr>
        <ns0:spPr>
          <a:xfrm>
            <a:off x="8496300" y="4095750"/>
            <a:ext cx="2743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l">
              <a:def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C5F5A"/>
                </a:solidFill>
                <a:latin typeface="Microsoft YaHei"/>
                <a:ea typeface="Microsoft YaHei"/>
                <a:cs typeface="Microsoft YaHei"/>
              </a:rPr>
              <a:t>可继续加入会员等级、电子发票、房型库存、支付流水和更细的权限菜单。</a:t>
            </a:r>
          </a:p>
        </ns0:txBody>
      </ns0:sp>
      <ns0:sp>
        <ns0:nvSpPr>
          <ns0:cNvPr id="36" name="">
            <a:extLst>
              <a:ext uri="{FF2B5EF4-FFF2-40B4-BE49-F238E27FC236}">
                <ns2:creationId id="{4C2C0E38-27A9-4E58-A4E9-0DE48ED164DD}"/>
              </a:ext>
            </a:extLst>
          </ns0:cNvPr>
          <ns0:cNvSpPr>
            <a:spLocks noGrp="1"/>
          </ns0:cNvSpPr>
          <ns0:nvPr/>
        </ns0:nvSpPr>
        <ns0:spPr>
          <a:xfrm>
            <a:off x="2000250" y="5619750"/>
            <a:ext cx="8096250" cy="285750"/>
          </a:xfrm>
          <a:prstGeom prst="rect">
            <a:avLst/>
          </a:prstGeom>
          <a:solidFill>
            <a:srgbClr val="7E1F2F"/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</ns0:sp>
      <ns0:sp>
        <ns0:nvSpPr>
          <ns0:cNvPr id="37" name="">
            <a:extLst>
              <a:ext uri="{FF2B5EF4-FFF2-40B4-BE49-F238E27FC236}">
                <ns2:creationId id="{21FE0A12-6B0C-4855-B25F-FB9F1E75E813}"/>
              </a:ext>
            </a:extLst>
          </ns0:cNvPr>
          <ns0:cNvSpPr>
            <a:spLocks noGrp="1"/>
          </ns0:cNvSpPr>
          <ns0:nvPr/>
        </ns0:nvSpPr>
        <ns0:spPr>
          <a:xfrm>
            <a:off x="2114550" y="5667375"/>
            <a:ext cx="7867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ns0:spPr>
        <ns0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结束语：数据库负责守住规则，后端负责执行业务，前端负责把流程变得易用。</a:t>
            </a:r>
          </a:p>
        </ns0:txBody>
      </ns0:sp>
    </ns0:spTree>
    <ns0:extLst>
      <ns0:ext uri="{BB962C8B-B14F-4D97-AF65-F5344CB8AC3E}">
        <ns3:creationId val="1867223452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2026-05-17T04:47:22.8290000Z</dcterms:created>
  <dcterms:modified xsi:type="dcterms:W3CDTF">2026-05-17T04:47:22.8290000Z</dcterms:modified>
</coreProperties>
</file>